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18d8f09-aaf1-5fff-7d01-77befde9ccbb}">
          <p14:sldIdLst>
            <p14:sldId id="256"/>
            <p14:sldId id="257"/>
          </p14:sldIdLst>
        </p14:section>
        <p14:section name="Scope" id="{7d868e86-96de-51d7-a66a-36a1c1cbf8e6}">
          <p14:sldIdLst>
            <p14:sldId id="258"/>
            <p14:sldId id="259"/>
          </p14:sldIdLst>
        </p14:section>
        <p14:section name="Design" id="{d6ed4235-8ca3-ec13-c43e-ba566458bf32}">
          <p14:sldIdLst>
            <p14:sldId id="260"/>
            <p14:sldId id="261"/>
            <p14:sldId id="262"/>
          </p14:sldIdLst>
        </p14:section>
        <p14:section name="Conclusion" id="{65d98bd2-d0aa-582c-d99a-4805af6eed21}">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 am [Student Name] from [Department], [College Name], and I am presenting my academic project, the Smart Road Management System, or SRMS, under the guidance of [Guide Name].
SRMS is a web-based project that brings road-related information together in a single interface. The ring on the right shows the eight modules that make up the system: Home, Traffic Management, Road Condition, Route Management, Accident Reporting, Complaint and Feedback, Emergency Services, and Contact Us.
In the next few minutes I will explain the problem, the features and modules, the technologies, the architecture and workflow, and finally the conclusion and future scope.
[Replace the bracketed placeholders with your own details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road-related information, such as traffic, road conditions, route details, accident reports, complaints and emergency contacts, can be spread across separate sources. That makes it harder for a user to get a complete picture quickly.
SRMS addresses this with four objectives. First, centralized access to road and traffic information. Second, better route awareness for users. Third, a way to report accidents and submit complaints or feedback. Fourth, quick access to emergency services and contact information.
Note: I am describing the problem in general terms and not quoting statistics. If you have a cited source for local road-safety data, you can add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features users get from SRMS.
Traffic Management lets users view and organize traffic information. Road Conditions shows the status of roads and known issues. Route Management supports route awareness. Accident Reporting provides a form to submit accident details. Complaints and Feedback lets users raise road-related concerns. Emergency Services gives quick access to emergency contact numbers. Contact Us provides contact and support information.
The green box makes the main point: all of these are available from one web interface rather than separate tools.
[Adjust the one-line descriptions if your implementation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SRMS is organized into eight modules.
1. Home is the entry point that links to every other module.
2. Traffic Management presents traffic information.
3. Road Condition shows road condition details and known issues.
4. Route Management organizes route information.
5. Accident Reporting is a form-based way to report accidents.
6. Complaint and Feedback collects road-related complaints and suggestions.
7. Emergency Services gives quick access to emergency contact numbers.
8. Contact Us holds contact and support information.
[Tip: if you have a live demo or screenshots of each module, this is the best moment to show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what is built from what is planned.
Implemented on the left: the frontend uses HTML5 for structure and content, CSS3 for styling and layout, and JavaScript for client-side interactivity.
On the right, in dashed boxes, are potential or planned technologies: Java with Spring Boot for the backend, MySQL for storage, a REST API to connect frontend and backend, and Google Maps Platform for maps, routing and traffic layers. These are proposals for the next phase and are not claimed as implemented.
[If any of these are actually implemented in your final project, move the card to the Implemented side and update the architecture and workflow slides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architecture. Every box and arrow is an editable PowerPoint shape, so you can modify the diagram directly.
The user interacts with the frontend, which is built with HTML5, CSS3 and JavaScript. This is the implemented part, shown as the solid dark box.
The dashed boxes are planned. A backend API using Java and Spring Boot would receive requests from the frontend through REST, and store or retrieve data in a MySQL database. Google Maps Platform is shown as an optional external service for maps, routing and traffic layers, which could be called from the frontend or the backend.
To be clear, the backend, database and Maps integration are proposed extensions, not part of the current implementation.
[If your project already has a backend or database, change the dashed style to solid and update the scope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two workflows and clearly marks which parts are implemented and which are proposed.
Workflow A, road issue reporting. Step 1: the user submits an accident or road-issue report through the form. This is implemented in the frontend. Step 2: input validation checks required details before submission; this is marked with an asterisk, so confirm against your final build what validation your forms actually perform. Step 3: storing the report in a MySQL database through a backend API is proposed. Step 4: review and verification by an authority or administrator is also proposed, and applies only if the system supports it.
Workflow B is entirely proposed. Traffic data, road condition data and verified incident reports could feed a route evaluation step, which would then produce a recommended route or alternatives for the user. This is a design idea for future work, not a current feature.
[Edit the tags to match your final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Smart Road Management System brings traffic information, road conditions, route management, accident reporting, complaints and feedback, emergency services and contact details into one web interface. The current work is a frontend built with HTML5, CSS3 and JavaScript.
Future enhancements, all proposed, are: integrating live traffic data; maps-based routing, for example with Google Maps; adding a backend and database using Spring Boot, a REST API and MySQL; verifying reports before action is taken; optimizing route suggestions using road and traffic data; and exploring image-based or sensor-based road-damage detection.
Thank you. I would be happy to take questions. [Add a demo or Q&amp;A prompt here if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RMS_TITLE">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731520" y="1417320"/>
            <a:ext cx="594360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731520" y="3200400"/>
            <a:ext cx="5760720" cy="82296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RMS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Smart Road Management System  |  Academic Project</a:t>
            </a:r>
            <a:endParaRPr lang="en-US" sz="1000" dirty="0"/>
          </a:p>
        </p:txBody>
      </p:sp>
      <p:sp>
        <p:nvSpPr>
          <p:cNvPr id="25" name="Slide Number Placeholder 0"/>
          <p:cNvSpPr>
            <a:spLocks noGrp="1"/>
          </p:cNvSpPr>
          <p:nvPr>
            <p:ph type="sldNum" sz="quarter" idx="4294967295"/>
          </p:nvPr>
        </p:nvSpPr>
        <p:spPr>
          <a:xfrm>
            <a:off x="10908792"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914400"/>
            <a:ext cx="3657600" cy="274320"/>
          </a:xfrm>
          <a:prstGeom prst="rect">
            <a:avLst/>
          </a:prstGeom>
          <a:noFill/>
          <a:ln/>
        </p:spPr>
        <p:txBody>
          <a:bodyPr wrap="square" lIns="0" tIns="0" rIns="0" bIns="0" rtlCol="0" anchor="t"/>
          <a:lstStyle/>
          <a:p>
            <a:pPr indent="0" marL="0">
              <a:buNone/>
            </a:pPr>
            <a:r>
              <a:rPr lang="en-US" sz="1400" b="1" spc="400" kern="0" dirty="0">
                <a:solidFill>
                  <a:schemeClr val="accent3"/>
                </a:solidFill>
              </a:rPr>
              <a:t>ACADEMIC PROJECT</a:t>
            </a:r>
            <a:endParaRPr lang="en-US" sz="1400" dirty="0"/>
          </a:p>
        </p:txBody>
      </p:sp>
      <p:sp>
        <p:nvSpPr>
          <p:cNvPr id="3" name="Text 1"/>
          <p:cNvSpPr/>
          <p:nvPr>
            <p:ph idx="101" type="title" hasCustomPrompt="1"/>
          </p:nvPr>
        </p:nvSpPr>
        <p:spPr>
          <a:xfrm>
            <a:off x="731520" y="1417320"/>
            <a:ext cx="5943600" cy="1645920"/>
          </a:xfrm>
          <a:prstGeom prst="rect">
            <a:avLst/>
          </a:prstGeom>
          <a:noFill/>
          <a:ln/>
        </p:spPr>
        <p:txBody>
          <a:bodyPr wrap="square" lIns="0" tIns="0" rIns="0" bIns="0" rtlCol="0" anchor="t"/>
          <a:lstStyle/>
          <a:p>
            <a:pPr algn="l" indent="0" marL="0">
              <a:buNone/>
            </a:pPr>
            <a:r>
              <a:rPr lang="en-US" sz="4400" b="1" dirty="0">
                <a:solidFill>
                  <a:schemeClr val="bg1"/>
                </a:solidFill>
              </a:rPr>
              <a:t>Smart Road Management System</a:t>
            </a:r>
            <a:endParaRPr lang="en-US" sz="4400" dirty="0"/>
          </a:p>
        </p:txBody>
      </p:sp>
      <p:sp>
        <p:nvSpPr>
          <p:cNvPr id="4" name="Text 1"/>
          <p:cNvSpPr/>
          <p:nvPr>
            <p:ph idx="102" type="body" hasCustomPrompt="1"/>
          </p:nvPr>
        </p:nvSpPr>
        <p:spPr>
          <a:xfrm>
            <a:off x="731520" y="3200400"/>
            <a:ext cx="5760720" cy="822960"/>
          </a:xfrm>
          <a:prstGeom prst="rect">
            <a:avLst/>
          </a:prstGeom>
          <a:noFill/>
          <a:ln/>
        </p:spPr>
        <p:txBody>
          <a:bodyPr wrap="square" lIns="0" tIns="0" rIns="0" bIns="0" rtlCol="0" anchor="t"/>
          <a:lstStyle/>
          <a:p>
            <a:pPr algn="l" indent="0" marL="0">
              <a:buNone/>
            </a:pPr>
            <a:r>
              <a:rPr lang="en-US" sz="1800" dirty="0">
                <a:solidFill>
                  <a:schemeClr val="accent5"/>
                </a:solidFill>
              </a:rPr>
              <a:t>A web-based platform for road, traffic and emergency information</a:t>
            </a:r>
            <a:endParaRPr lang="en-US" sz="1800" dirty="0"/>
          </a:p>
        </p:txBody>
      </p:sp>
      <p:sp>
        <p:nvSpPr>
          <p:cNvPr id="5" name="Project Details Placeholders"/>
          <p:cNvSpPr txBox="1"/>
          <p:nvPr/>
        </p:nvSpPr>
        <p:spPr>
          <a:xfrm>
            <a:off x="731520" y="4343400"/>
            <a:ext cx="5760720" cy="1554480"/>
          </a:xfrm>
          <a:prstGeom prst="rect">
            <a:avLst/>
          </a:prstGeom>
          <a:noFill/>
          <a:ln/>
        </p:spPr>
        <p:txBody>
          <a:bodyPr wrap="square" lIns="0" tIns="0" rIns="0" bIns="0" rtlCol="0" anchor="t"/>
          <a:lstStyle/>
          <a:p>
            <a:pPr indent="0" marL="0">
              <a:spcAft>
                <a:spcPts val="800"/>
              </a:spcAft>
              <a:buNone/>
            </a:pPr>
            <a:r>
              <a:rPr lang="en-US" sz="1800" b="1" dirty="0">
                <a:solidFill>
                  <a:schemeClr val="accent3"/>
                </a:solidFill>
              </a:rPr>
              <a:t>Student Name:  </a:t>
            </a:r>
            <a:pPr indent="0" marL="0">
              <a:spcAft>
                <a:spcPts val="800"/>
              </a:spcAft>
              <a:buNone/>
            </a:pPr>
            <a:r>
              <a:rPr lang="en-US" sz="1800" dirty="0">
                <a:solidFill>
                  <a:schemeClr val="bg1"/>
                </a:solidFill>
              </a:rPr>
              <a:t>[Student Name]</a:t>
            </a:r>
            <a:endParaRPr lang="en-US" sz="1800" dirty="0"/>
          </a:p>
          <a:p>
            <a:pPr indent="0" marL="0">
              <a:spcAft>
                <a:spcPts val="800"/>
              </a:spcAft>
              <a:buNone/>
            </a:pPr>
            <a:r>
              <a:rPr lang="en-US" sz="1800" b="1" dirty="0">
                <a:solidFill>
                  <a:schemeClr val="accent3"/>
                </a:solidFill>
              </a:rPr>
              <a:t>Department:  </a:t>
            </a:r>
            <a:pPr indent="0" marL="0">
              <a:spcAft>
                <a:spcPts val="800"/>
              </a:spcAft>
              <a:buNone/>
            </a:pPr>
            <a:r>
              <a:rPr lang="en-US" sz="1800" dirty="0">
                <a:solidFill>
                  <a:schemeClr val="bg1"/>
                </a:solidFill>
              </a:rPr>
              <a:t>[Department]</a:t>
            </a:r>
            <a:endParaRPr lang="en-US" sz="1800" dirty="0"/>
          </a:p>
          <a:p>
            <a:pPr indent="0" marL="0">
              <a:spcAft>
                <a:spcPts val="800"/>
              </a:spcAft>
              <a:buNone/>
            </a:pPr>
            <a:r>
              <a:rPr lang="en-US" sz="1800" b="1" dirty="0">
                <a:solidFill>
                  <a:schemeClr val="accent3"/>
                </a:solidFill>
              </a:rPr>
              <a:t>College:  </a:t>
            </a:r>
            <a:pPr indent="0" marL="0">
              <a:spcAft>
                <a:spcPts val="800"/>
              </a:spcAft>
              <a:buNone/>
            </a:pPr>
            <a:r>
              <a:rPr lang="en-US" sz="1800" dirty="0">
                <a:solidFill>
                  <a:schemeClr val="bg1"/>
                </a:solidFill>
              </a:rPr>
              <a:t>[College Name]</a:t>
            </a:r>
            <a:endParaRPr lang="en-US" sz="1800" dirty="0"/>
          </a:p>
          <a:p>
            <a:pPr indent="0" marL="0">
              <a:spcAft>
                <a:spcPts val="800"/>
              </a:spcAft>
              <a:buNone/>
            </a:pPr>
            <a:r>
              <a:rPr lang="en-US" sz="1800" b="1" dirty="0">
                <a:solidFill>
                  <a:schemeClr val="accent3"/>
                </a:solidFill>
              </a:rPr>
              <a:t>Guide:  </a:t>
            </a:r>
            <a:pPr indent="0" marL="0">
              <a:spcAft>
                <a:spcPts val="800"/>
              </a:spcAft>
              <a:buNone/>
            </a:pPr>
            <a:r>
              <a:rPr lang="en-US" sz="1800" dirty="0">
                <a:solidFill>
                  <a:schemeClr val="bg1"/>
                </a:solidFill>
              </a:rPr>
              <a:t>[Guide Name]</a:t>
            </a:r>
            <a:endParaRPr lang="en-US" sz="1800" dirty="0"/>
          </a:p>
        </p:txBody>
      </p:sp>
      <p:sp>
        <p:nvSpPr>
          <p:cNvPr id="6" name="Module Ring"/>
          <p:cNvSpPr/>
          <p:nvPr/>
        </p:nvSpPr>
        <p:spPr>
          <a:xfrm>
            <a:off x="7406640" y="1508760"/>
            <a:ext cx="3840480" cy="3840480"/>
          </a:xfrm>
          <a:prstGeom prst="ellipse">
            <a:avLst/>
          </a:prstGeom>
          <a:ln w="19050">
            <a:solidFill>
              <a:schemeClr val="accent6"/>
            </a:solidFill>
            <a:prstDash val="dash"/>
          </a:ln>
        </p:spPr>
      </p:sp>
      <p:sp>
        <p:nvSpPr>
          <p:cNvPr id="7" name="SRMS Hub"/>
          <p:cNvSpPr txBox="1"/>
          <p:nvPr/>
        </p:nvSpPr>
        <p:spPr>
          <a:xfrm>
            <a:off x="8503920" y="2606040"/>
            <a:ext cx="1645920" cy="1645920"/>
          </a:xfrm>
          <a:prstGeom prst="ellipse">
            <a:avLst/>
          </a:prstGeom>
          <a:solidFill>
            <a:schemeClr val="accent1"/>
          </a:solidFill>
          <a:ln/>
        </p:spPr>
        <p:txBody>
          <a:bodyPr wrap="square" lIns="0" tIns="0" rIns="0" bIns="0" rtlCol="0" anchor="ctr"/>
          <a:lstStyle/>
          <a:p>
            <a:pPr algn="ctr" indent="0" marL="0">
              <a:buNone/>
            </a:pPr>
            <a:r>
              <a:rPr lang="en-US" sz="2800" b="1" dirty="0">
                <a:solidFill>
                  <a:schemeClr val="bg1"/>
                </a:solidFill>
              </a:rPr>
              <a:t>SRMS</a:t>
            </a:r>
            <a:endParaRPr lang="en-US" sz="2800" dirty="0"/>
          </a:p>
        </p:txBody>
      </p:sp>
      <p:sp>
        <p:nvSpPr>
          <p:cNvPr id="8" name="Module Circle 1"/>
          <p:cNvSpPr/>
          <p:nvPr/>
        </p:nvSpPr>
        <p:spPr>
          <a:xfrm>
            <a:off x="8938260" y="1120140"/>
            <a:ext cx="777240" cy="777240"/>
          </a:xfrm>
          <a:prstGeom prst="ellipse">
            <a:avLst/>
          </a:prstGeom>
          <a:solidFill>
            <a:schemeClr val="bg1"/>
          </a:solidFill>
          <a:ln/>
        </p:spPr>
      </p:sp>
      <p:pic>
        <p:nvPicPr>
          <p:cNvPr id="9" name="Module icon 1" descr="Module icon 1">    </p:cNvPr>
          <p:cNvPicPr>
            <a:picLocks noChangeAspect="1"/>
          </p:cNvPicPr>
          <p:nvPr/>
        </p:nvPicPr>
        <p:blipFill>
          <a:blip r:embed="rId1"/>
          <a:stretch>
            <a:fillRect/>
          </a:stretch>
        </p:blipFill>
        <p:spPr>
          <a:xfrm>
            <a:off x="9121140" y="1303020"/>
            <a:ext cx="411480" cy="411480"/>
          </a:xfrm>
          <a:prstGeom prst="rect">
            <a:avLst/>
          </a:prstGeom>
        </p:spPr>
      </p:pic>
      <p:sp>
        <p:nvSpPr>
          <p:cNvPr id="10" name="Module Circle 2"/>
          <p:cNvSpPr/>
          <p:nvPr/>
        </p:nvSpPr>
        <p:spPr>
          <a:xfrm>
            <a:off x="10296075" y="1682565"/>
            <a:ext cx="777240" cy="777240"/>
          </a:xfrm>
          <a:prstGeom prst="ellipse">
            <a:avLst/>
          </a:prstGeom>
          <a:solidFill>
            <a:schemeClr val="bg1"/>
          </a:solidFill>
          <a:ln/>
        </p:spPr>
      </p:sp>
      <p:pic>
        <p:nvPicPr>
          <p:cNvPr id="11" name="Module icon 2" descr="Module icon 2">    </p:cNvPr>
          <p:cNvPicPr>
            <a:picLocks noChangeAspect="1"/>
          </p:cNvPicPr>
          <p:nvPr/>
        </p:nvPicPr>
        <p:blipFill>
          <a:blip r:embed="rId2"/>
          <a:stretch>
            <a:fillRect/>
          </a:stretch>
        </p:blipFill>
        <p:spPr>
          <a:xfrm>
            <a:off x="10478955" y="1865445"/>
            <a:ext cx="411480" cy="411480"/>
          </a:xfrm>
          <a:prstGeom prst="rect">
            <a:avLst/>
          </a:prstGeom>
        </p:spPr>
      </p:pic>
      <p:sp>
        <p:nvSpPr>
          <p:cNvPr id="12" name="Module Circle 3"/>
          <p:cNvSpPr/>
          <p:nvPr/>
        </p:nvSpPr>
        <p:spPr>
          <a:xfrm>
            <a:off x="10858500" y="3040380"/>
            <a:ext cx="777240" cy="777240"/>
          </a:xfrm>
          <a:prstGeom prst="ellipse">
            <a:avLst/>
          </a:prstGeom>
          <a:solidFill>
            <a:schemeClr val="bg1"/>
          </a:solidFill>
          <a:ln/>
        </p:spPr>
      </p:sp>
      <p:pic>
        <p:nvPicPr>
          <p:cNvPr id="13" name="Module icon 3" descr="Module icon 3">    </p:cNvPr>
          <p:cNvPicPr>
            <a:picLocks noChangeAspect="1"/>
          </p:cNvPicPr>
          <p:nvPr/>
        </p:nvPicPr>
        <p:blipFill>
          <a:blip r:embed="rId3"/>
          <a:stretch>
            <a:fillRect/>
          </a:stretch>
        </p:blipFill>
        <p:spPr>
          <a:xfrm>
            <a:off x="11041380" y="3223260"/>
            <a:ext cx="411480" cy="411480"/>
          </a:xfrm>
          <a:prstGeom prst="rect">
            <a:avLst/>
          </a:prstGeom>
        </p:spPr>
      </p:pic>
      <p:sp>
        <p:nvSpPr>
          <p:cNvPr id="14" name="Module Circle 4"/>
          <p:cNvSpPr/>
          <p:nvPr/>
        </p:nvSpPr>
        <p:spPr>
          <a:xfrm>
            <a:off x="10296075" y="4398195"/>
            <a:ext cx="777240" cy="777240"/>
          </a:xfrm>
          <a:prstGeom prst="ellipse">
            <a:avLst/>
          </a:prstGeom>
          <a:solidFill>
            <a:schemeClr val="bg1"/>
          </a:solidFill>
          <a:ln/>
        </p:spPr>
      </p:sp>
      <p:pic>
        <p:nvPicPr>
          <p:cNvPr id="15" name="Module icon 4" descr="Module icon 4">    </p:cNvPr>
          <p:cNvPicPr>
            <a:picLocks noChangeAspect="1"/>
          </p:cNvPicPr>
          <p:nvPr/>
        </p:nvPicPr>
        <p:blipFill>
          <a:blip r:embed="rId4"/>
          <a:stretch>
            <a:fillRect/>
          </a:stretch>
        </p:blipFill>
        <p:spPr>
          <a:xfrm>
            <a:off x="10478955" y="4581075"/>
            <a:ext cx="411480" cy="411480"/>
          </a:xfrm>
          <a:prstGeom prst="rect">
            <a:avLst/>
          </a:prstGeom>
        </p:spPr>
      </p:pic>
      <p:sp>
        <p:nvSpPr>
          <p:cNvPr id="16" name="Module Circle 5"/>
          <p:cNvSpPr/>
          <p:nvPr/>
        </p:nvSpPr>
        <p:spPr>
          <a:xfrm>
            <a:off x="8938260" y="4960620"/>
            <a:ext cx="777240" cy="777240"/>
          </a:xfrm>
          <a:prstGeom prst="ellipse">
            <a:avLst/>
          </a:prstGeom>
          <a:solidFill>
            <a:schemeClr val="bg1"/>
          </a:solidFill>
          <a:ln/>
        </p:spPr>
      </p:sp>
      <p:pic>
        <p:nvPicPr>
          <p:cNvPr id="17" name="Module icon 5" descr="Module icon 5">    </p:cNvPr>
          <p:cNvPicPr>
            <a:picLocks noChangeAspect="1"/>
          </p:cNvPicPr>
          <p:nvPr/>
        </p:nvPicPr>
        <p:blipFill>
          <a:blip r:embed="rId5"/>
          <a:stretch>
            <a:fillRect/>
          </a:stretch>
        </p:blipFill>
        <p:spPr>
          <a:xfrm>
            <a:off x="9121140" y="5143500"/>
            <a:ext cx="411480" cy="411480"/>
          </a:xfrm>
          <a:prstGeom prst="rect">
            <a:avLst/>
          </a:prstGeom>
        </p:spPr>
      </p:pic>
      <p:sp>
        <p:nvSpPr>
          <p:cNvPr id="18" name="Module Circle 6"/>
          <p:cNvSpPr/>
          <p:nvPr/>
        </p:nvSpPr>
        <p:spPr>
          <a:xfrm>
            <a:off x="7580445" y="4398195"/>
            <a:ext cx="777240" cy="777240"/>
          </a:xfrm>
          <a:prstGeom prst="ellipse">
            <a:avLst/>
          </a:prstGeom>
          <a:solidFill>
            <a:schemeClr val="bg1"/>
          </a:solidFill>
          <a:ln/>
        </p:spPr>
      </p:sp>
      <p:pic>
        <p:nvPicPr>
          <p:cNvPr id="19" name="Module icon 6" descr="Module icon 6">    </p:cNvPr>
          <p:cNvPicPr>
            <a:picLocks noChangeAspect="1"/>
          </p:cNvPicPr>
          <p:nvPr/>
        </p:nvPicPr>
        <p:blipFill>
          <a:blip r:embed="rId6"/>
          <a:stretch>
            <a:fillRect/>
          </a:stretch>
        </p:blipFill>
        <p:spPr>
          <a:xfrm>
            <a:off x="7763325" y="4581075"/>
            <a:ext cx="411480" cy="411480"/>
          </a:xfrm>
          <a:prstGeom prst="rect">
            <a:avLst/>
          </a:prstGeom>
        </p:spPr>
      </p:pic>
      <p:sp>
        <p:nvSpPr>
          <p:cNvPr id="20" name="Module Circle 7"/>
          <p:cNvSpPr/>
          <p:nvPr/>
        </p:nvSpPr>
        <p:spPr>
          <a:xfrm>
            <a:off x="7018020" y="3040380"/>
            <a:ext cx="777240" cy="777240"/>
          </a:xfrm>
          <a:prstGeom prst="ellipse">
            <a:avLst/>
          </a:prstGeom>
          <a:solidFill>
            <a:schemeClr val="bg1"/>
          </a:solidFill>
          <a:ln/>
        </p:spPr>
      </p:sp>
      <p:pic>
        <p:nvPicPr>
          <p:cNvPr id="21" name="Module icon 7" descr="Module icon 7">    </p:cNvPr>
          <p:cNvPicPr>
            <a:picLocks noChangeAspect="1"/>
          </p:cNvPicPr>
          <p:nvPr/>
        </p:nvPicPr>
        <p:blipFill>
          <a:blip r:embed="rId7"/>
          <a:stretch>
            <a:fillRect/>
          </a:stretch>
        </p:blipFill>
        <p:spPr>
          <a:xfrm>
            <a:off x="7200900" y="3223260"/>
            <a:ext cx="411480" cy="411480"/>
          </a:xfrm>
          <a:prstGeom prst="rect">
            <a:avLst/>
          </a:prstGeom>
        </p:spPr>
      </p:pic>
      <p:sp>
        <p:nvSpPr>
          <p:cNvPr id="22" name="Module Circle 8"/>
          <p:cNvSpPr/>
          <p:nvPr/>
        </p:nvSpPr>
        <p:spPr>
          <a:xfrm>
            <a:off x="7580445" y="1682565"/>
            <a:ext cx="777240" cy="777240"/>
          </a:xfrm>
          <a:prstGeom prst="ellipse">
            <a:avLst/>
          </a:prstGeom>
          <a:solidFill>
            <a:schemeClr val="bg1"/>
          </a:solidFill>
          <a:ln/>
        </p:spPr>
      </p:sp>
      <p:pic>
        <p:nvPicPr>
          <p:cNvPr id="23" name="Module icon 8" descr="Module icon 8">    </p:cNvPr>
          <p:cNvPicPr>
            <a:picLocks noChangeAspect="1"/>
          </p:cNvPicPr>
          <p:nvPr/>
        </p:nvPicPr>
        <p:blipFill>
          <a:blip r:embed="rId8"/>
          <a:stretch>
            <a:fillRect/>
          </a:stretch>
        </p:blipFill>
        <p:spPr>
          <a:xfrm>
            <a:off x="7763325" y="1865445"/>
            <a:ext cx="411480" cy="411480"/>
          </a:xfrm>
          <a:prstGeom prst="rect">
            <a:avLst/>
          </a:prstGeom>
        </p:spPr>
      </p:pic>
      <p:sp>
        <p:nvSpPr>
          <p:cNvPr id="24" name="Ring Caption"/>
          <p:cNvSpPr txBox="1"/>
          <p:nvPr/>
        </p:nvSpPr>
        <p:spPr>
          <a:xfrm>
            <a:off x="7498080" y="5897880"/>
            <a:ext cx="3657600" cy="274320"/>
          </a:xfrm>
          <a:prstGeom prst="rect">
            <a:avLst/>
          </a:prstGeom>
          <a:noFill/>
          <a:ln/>
        </p:spPr>
        <p:txBody>
          <a:bodyPr wrap="square" lIns="0" tIns="0" rIns="0" bIns="0" rtlCol="0" anchor="t"/>
          <a:lstStyle/>
          <a:p>
            <a:pPr algn="ctr" indent="0" marL="0">
              <a:buNone/>
            </a:pPr>
            <a:r>
              <a:rPr lang="en-US" sz="1400" dirty="0">
                <a:solidFill>
                  <a:schemeClr val="accent5"/>
                </a:solidFill>
              </a:rPr>
              <a:t>8 integrated modules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Problem Statement &amp; Objectives</a:t>
            </a:r>
            <a:endParaRPr lang="en-US" sz="3600" dirty="0"/>
          </a:p>
        </p:txBody>
      </p:sp>
      <p:sp>
        <p:nvSpPr>
          <p:cNvPr id="3" name="Problem Card"/>
          <p:cNvSpPr/>
          <p:nvPr/>
        </p:nvSpPr>
        <p:spPr>
          <a:xfrm>
            <a:off x="548640" y="1463040"/>
            <a:ext cx="4206240" cy="4572000"/>
          </a:xfrm>
          <a:prstGeom prst="roundRect">
            <a:avLst>
              <a:gd name="adj" fmla="val 2174"/>
            </a:avLst>
          </a:prstGeom>
          <a:solidFill>
            <a:schemeClr val="tx2"/>
          </a:solidFill>
          <a:ln/>
        </p:spPr>
      </p:sp>
      <p:sp>
        <p:nvSpPr>
          <p:cNvPr id="4" name="Problem Icon Circle"/>
          <p:cNvSpPr/>
          <p:nvPr/>
        </p:nvSpPr>
        <p:spPr>
          <a:xfrm>
            <a:off x="868680" y="1783080"/>
            <a:ext cx="731520" cy="731520"/>
          </a:xfrm>
          <a:prstGeom prst="ellipse">
            <a:avLst/>
          </a:prstGeom>
          <a:solidFill>
            <a:schemeClr val="accent1"/>
          </a:solidFill>
          <a:ln/>
        </p:spPr>
      </p:sp>
      <p:pic>
        <p:nvPicPr>
          <p:cNvPr id="5" name="Road icon" descr="Road icon">    </p:cNvPr>
          <p:cNvPicPr>
            <a:picLocks noChangeAspect="1"/>
          </p:cNvPicPr>
          <p:nvPr/>
        </p:nvPicPr>
        <p:blipFill>
          <a:blip r:embed="rId1"/>
          <a:stretch>
            <a:fillRect/>
          </a:stretch>
        </p:blipFill>
        <p:spPr>
          <a:xfrm>
            <a:off x="1051560" y="1965960"/>
            <a:ext cx="365760" cy="365760"/>
          </a:xfrm>
          <a:prstGeom prst="rect">
            <a:avLst/>
          </a:prstGeom>
        </p:spPr>
      </p:pic>
      <p:sp>
        <p:nvSpPr>
          <p:cNvPr id="6" name="Problem Label"/>
          <p:cNvSpPr txBox="1"/>
          <p:nvPr/>
        </p:nvSpPr>
        <p:spPr>
          <a:xfrm>
            <a:off x="868680" y="2834640"/>
            <a:ext cx="3566160" cy="274320"/>
          </a:xfrm>
          <a:prstGeom prst="rect">
            <a:avLst/>
          </a:prstGeom>
          <a:noFill/>
          <a:ln/>
        </p:spPr>
        <p:txBody>
          <a:bodyPr wrap="square" lIns="0" tIns="0" rIns="0" bIns="0" rtlCol="0" anchor="t"/>
          <a:lstStyle/>
          <a:p>
            <a:pPr indent="0" marL="0">
              <a:buNone/>
            </a:pPr>
            <a:r>
              <a:rPr lang="en-US" sz="1400" b="1" spc="200" kern="0" dirty="0">
                <a:solidFill>
                  <a:schemeClr val="accent3"/>
                </a:solidFill>
              </a:rPr>
              <a:t>PROBLEM STATEMENT</a:t>
            </a:r>
            <a:endParaRPr lang="en-US" sz="1400" dirty="0"/>
          </a:p>
        </p:txBody>
      </p:sp>
      <p:sp>
        <p:nvSpPr>
          <p:cNvPr id="7" name="Problem Text"/>
          <p:cNvSpPr txBox="1"/>
          <p:nvPr/>
        </p:nvSpPr>
        <p:spPr>
          <a:xfrm>
            <a:off x="868680" y="3246120"/>
            <a:ext cx="3566160" cy="2560320"/>
          </a:xfrm>
          <a:prstGeom prst="rect">
            <a:avLst/>
          </a:prstGeom>
          <a:noFill/>
          <a:ln/>
        </p:spPr>
        <p:txBody>
          <a:bodyPr wrap="square" lIns="0" tIns="0" rIns="0" bIns="0" rtlCol="0" anchor="t"/>
          <a:lstStyle/>
          <a:p>
            <a:pPr indent="0" marL="0">
              <a:buNone/>
            </a:pPr>
            <a:r>
              <a:rPr lang="en-US" sz="1800" dirty="0">
                <a:solidFill>
                  <a:schemeClr val="bg1"/>
                </a:solidFill>
              </a:rPr>
              <a:t>Road-related information such as traffic, road conditions, routes, accident reports, complaints and emergency contacts can be spread across separate sources.</a:t>
            </a:r>
            <a:endParaRPr lang="en-US" sz="1800" dirty="0"/>
          </a:p>
          <a:p>
            <a:pPr indent="0" marL="0">
              <a:buNone/>
            </a:pPr>
            <a:endParaRPr lang="en-US" sz="1800" dirty="0"/>
          </a:p>
          <a:p>
            <a:pPr indent="0" marL="0">
              <a:buNone/>
            </a:pPr>
            <a:r>
              <a:rPr lang="en-US" sz="1800" dirty="0">
                <a:solidFill>
                  <a:schemeClr val="bg1"/>
                </a:solidFill>
              </a:rPr>
              <a:t>Users need one place to view this information and act on it.</a:t>
            </a:r>
            <a:endParaRPr lang="en-US" sz="1800" dirty="0"/>
          </a:p>
        </p:txBody>
      </p:sp>
      <p:sp>
        <p:nvSpPr>
          <p:cNvPr id="8" name="Objective Card 1"/>
          <p:cNvSpPr/>
          <p:nvPr/>
        </p:nvSpPr>
        <p:spPr>
          <a:xfrm>
            <a:off x="5056632" y="1463040"/>
            <a:ext cx="3154680" cy="2148840"/>
          </a:xfrm>
          <a:prstGeom prst="roundRect">
            <a:avLst>
              <a:gd name="adj" fmla="val 4255"/>
            </a:avLst>
          </a:prstGeom>
          <a:solidFill>
            <a:schemeClr val="bg2"/>
          </a:solidFill>
          <a:ln/>
        </p:spPr>
      </p:sp>
      <p:sp>
        <p:nvSpPr>
          <p:cNvPr id="9" name="Objective Icon Circle 1"/>
          <p:cNvSpPr/>
          <p:nvPr/>
        </p:nvSpPr>
        <p:spPr>
          <a:xfrm>
            <a:off x="5330952" y="1737360"/>
            <a:ext cx="640080" cy="640080"/>
          </a:xfrm>
          <a:prstGeom prst="ellipse">
            <a:avLst/>
          </a:prstGeom>
          <a:solidFill>
            <a:schemeClr val="accent1"/>
          </a:solidFill>
          <a:ln/>
        </p:spPr>
      </p:sp>
      <p:pic>
        <p:nvPicPr>
          <p:cNvPr id="10" name="Centralized access icon" descr="Centralized access icon">    </p:cNvPr>
          <p:cNvPicPr>
            <a:picLocks noChangeAspect="1"/>
          </p:cNvPicPr>
          <p:nvPr/>
        </p:nvPicPr>
        <p:blipFill>
          <a:blip r:embed="rId2"/>
          <a:stretch>
            <a:fillRect/>
          </a:stretch>
        </p:blipFill>
        <p:spPr>
          <a:xfrm>
            <a:off x="5486400" y="1892808"/>
            <a:ext cx="329184" cy="329184"/>
          </a:xfrm>
          <a:prstGeom prst="rect">
            <a:avLst/>
          </a:prstGeom>
        </p:spPr>
      </p:pic>
      <p:sp>
        <p:nvSpPr>
          <p:cNvPr id="11" name="Objective Title 1"/>
          <p:cNvSpPr txBox="1"/>
          <p:nvPr/>
        </p:nvSpPr>
        <p:spPr>
          <a:xfrm>
            <a:off x="5330952" y="2514600"/>
            <a:ext cx="2606040" cy="320040"/>
          </a:xfrm>
          <a:prstGeom prst="rect">
            <a:avLst/>
          </a:prstGeom>
          <a:noFill/>
          <a:ln/>
        </p:spPr>
        <p:txBody>
          <a:bodyPr wrap="square" lIns="0" tIns="0" rIns="0" bIns="0" rtlCol="0" anchor="t"/>
          <a:lstStyle/>
          <a:p>
            <a:pPr indent="0" marL="0">
              <a:buNone/>
            </a:pPr>
            <a:r>
              <a:rPr lang="en-US" sz="1800" b="1" dirty="0">
                <a:solidFill>
                  <a:schemeClr val="tx2"/>
                </a:solidFill>
              </a:rPr>
              <a:t>Centralized access</a:t>
            </a:r>
            <a:endParaRPr lang="en-US" sz="1800" dirty="0"/>
          </a:p>
        </p:txBody>
      </p:sp>
      <p:sp>
        <p:nvSpPr>
          <p:cNvPr id="12" name="Objective Text 1"/>
          <p:cNvSpPr txBox="1"/>
          <p:nvPr/>
        </p:nvSpPr>
        <p:spPr>
          <a:xfrm>
            <a:off x="5330952" y="2880360"/>
            <a:ext cx="2606040" cy="594360"/>
          </a:xfrm>
          <a:prstGeom prst="rect">
            <a:avLst/>
          </a:prstGeom>
          <a:noFill/>
          <a:ln/>
        </p:spPr>
        <p:txBody>
          <a:bodyPr wrap="square" lIns="0" tIns="0" rIns="0" bIns="0" rtlCol="0" anchor="t"/>
          <a:lstStyle/>
          <a:p>
            <a:pPr indent="0" marL="0">
              <a:buNone/>
            </a:pPr>
            <a:r>
              <a:rPr lang="en-US" sz="1400" dirty="0">
                <a:solidFill>
                  <a:schemeClr val="accent4"/>
                </a:solidFill>
              </a:rPr>
              <a:t>One interface for road and traffic information.</a:t>
            </a:r>
            <a:endParaRPr lang="en-US" sz="1400" dirty="0"/>
          </a:p>
        </p:txBody>
      </p:sp>
      <p:sp>
        <p:nvSpPr>
          <p:cNvPr id="13" name="Objective Card 2"/>
          <p:cNvSpPr/>
          <p:nvPr/>
        </p:nvSpPr>
        <p:spPr>
          <a:xfrm>
            <a:off x="8485632" y="1463040"/>
            <a:ext cx="3154680" cy="2148840"/>
          </a:xfrm>
          <a:prstGeom prst="roundRect">
            <a:avLst>
              <a:gd name="adj" fmla="val 4255"/>
            </a:avLst>
          </a:prstGeom>
          <a:solidFill>
            <a:schemeClr val="bg2"/>
          </a:solidFill>
          <a:ln/>
        </p:spPr>
      </p:sp>
      <p:sp>
        <p:nvSpPr>
          <p:cNvPr id="14" name="Objective Icon Circle 2"/>
          <p:cNvSpPr/>
          <p:nvPr/>
        </p:nvSpPr>
        <p:spPr>
          <a:xfrm>
            <a:off x="8759952" y="1737360"/>
            <a:ext cx="640080" cy="640080"/>
          </a:xfrm>
          <a:prstGeom prst="ellipse">
            <a:avLst/>
          </a:prstGeom>
          <a:solidFill>
            <a:schemeClr val="accent1"/>
          </a:solidFill>
          <a:ln/>
        </p:spPr>
      </p:sp>
      <p:pic>
        <p:nvPicPr>
          <p:cNvPr id="15" name="Route awareness icon" descr="Route awareness icon">    </p:cNvPr>
          <p:cNvPicPr>
            <a:picLocks noChangeAspect="1"/>
          </p:cNvPicPr>
          <p:nvPr/>
        </p:nvPicPr>
        <p:blipFill>
          <a:blip r:embed="rId3"/>
          <a:stretch>
            <a:fillRect/>
          </a:stretch>
        </p:blipFill>
        <p:spPr>
          <a:xfrm>
            <a:off x="8915400" y="1892808"/>
            <a:ext cx="329184" cy="329184"/>
          </a:xfrm>
          <a:prstGeom prst="rect">
            <a:avLst/>
          </a:prstGeom>
        </p:spPr>
      </p:pic>
      <p:sp>
        <p:nvSpPr>
          <p:cNvPr id="16" name="Objective Title 2"/>
          <p:cNvSpPr txBox="1"/>
          <p:nvPr/>
        </p:nvSpPr>
        <p:spPr>
          <a:xfrm>
            <a:off x="8759952" y="2514600"/>
            <a:ext cx="2606040" cy="320040"/>
          </a:xfrm>
          <a:prstGeom prst="rect">
            <a:avLst/>
          </a:prstGeom>
          <a:noFill/>
          <a:ln/>
        </p:spPr>
        <p:txBody>
          <a:bodyPr wrap="square" lIns="0" tIns="0" rIns="0" bIns="0" rtlCol="0" anchor="t"/>
          <a:lstStyle/>
          <a:p>
            <a:pPr indent="0" marL="0">
              <a:buNone/>
            </a:pPr>
            <a:r>
              <a:rPr lang="en-US" sz="1800" b="1" dirty="0">
                <a:solidFill>
                  <a:schemeClr val="tx2"/>
                </a:solidFill>
              </a:rPr>
              <a:t>Route awareness</a:t>
            </a:r>
            <a:endParaRPr lang="en-US" sz="1800" dirty="0"/>
          </a:p>
        </p:txBody>
      </p:sp>
      <p:sp>
        <p:nvSpPr>
          <p:cNvPr id="17" name="Objective Text 2"/>
          <p:cNvSpPr txBox="1"/>
          <p:nvPr/>
        </p:nvSpPr>
        <p:spPr>
          <a:xfrm>
            <a:off x="8759952" y="2880360"/>
            <a:ext cx="2606040" cy="594360"/>
          </a:xfrm>
          <a:prstGeom prst="rect">
            <a:avLst/>
          </a:prstGeom>
          <a:noFill/>
          <a:ln/>
        </p:spPr>
        <p:txBody>
          <a:bodyPr wrap="square" lIns="0" tIns="0" rIns="0" bIns="0" rtlCol="0" anchor="t"/>
          <a:lstStyle/>
          <a:p>
            <a:pPr indent="0" marL="0">
              <a:buNone/>
            </a:pPr>
            <a:r>
              <a:rPr lang="en-US" sz="1400" dirty="0">
                <a:solidFill>
                  <a:schemeClr val="accent4"/>
                </a:solidFill>
              </a:rPr>
              <a:t>Help users understand and manage route information.</a:t>
            </a:r>
            <a:endParaRPr lang="en-US" sz="1400" dirty="0"/>
          </a:p>
        </p:txBody>
      </p:sp>
      <p:sp>
        <p:nvSpPr>
          <p:cNvPr id="18" name="Objective Card 3"/>
          <p:cNvSpPr/>
          <p:nvPr/>
        </p:nvSpPr>
        <p:spPr>
          <a:xfrm>
            <a:off x="5056632" y="3886200"/>
            <a:ext cx="3154680" cy="2148840"/>
          </a:xfrm>
          <a:prstGeom prst="roundRect">
            <a:avLst>
              <a:gd name="adj" fmla="val 4255"/>
            </a:avLst>
          </a:prstGeom>
          <a:solidFill>
            <a:schemeClr val="bg2"/>
          </a:solidFill>
          <a:ln/>
        </p:spPr>
      </p:sp>
      <p:sp>
        <p:nvSpPr>
          <p:cNvPr id="19" name="Objective Icon Circle 3"/>
          <p:cNvSpPr/>
          <p:nvPr/>
        </p:nvSpPr>
        <p:spPr>
          <a:xfrm>
            <a:off x="5330952" y="4160520"/>
            <a:ext cx="640080" cy="640080"/>
          </a:xfrm>
          <a:prstGeom prst="ellipse">
            <a:avLst/>
          </a:prstGeom>
          <a:solidFill>
            <a:schemeClr val="accent1"/>
          </a:solidFill>
          <a:ln/>
        </p:spPr>
      </p:sp>
      <p:pic>
        <p:nvPicPr>
          <p:cNvPr id="20" name="Reporting icon" descr="Reporting icon">    </p:cNvPr>
          <p:cNvPicPr>
            <a:picLocks noChangeAspect="1"/>
          </p:cNvPicPr>
          <p:nvPr/>
        </p:nvPicPr>
        <p:blipFill>
          <a:blip r:embed="rId4"/>
          <a:stretch>
            <a:fillRect/>
          </a:stretch>
        </p:blipFill>
        <p:spPr>
          <a:xfrm>
            <a:off x="5486400" y="4315968"/>
            <a:ext cx="329184" cy="329184"/>
          </a:xfrm>
          <a:prstGeom prst="rect">
            <a:avLst/>
          </a:prstGeom>
        </p:spPr>
      </p:pic>
      <p:sp>
        <p:nvSpPr>
          <p:cNvPr id="21" name="Objective Title 3"/>
          <p:cNvSpPr txBox="1"/>
          <p:nvPr/>
        </p:nvSpPr>
        <p:spPr>
          <a:xfrm>
            <a:off x="5330952" y="4937760"/>
            <a:ext cx="2606040" cy="320040"/>
          </a:xfrm>
          <a:prstGeom prst="rect">
            <a:avLst/>
          </a:prstGeom>
          <a:noFill/>
          <a:ln/>
        </p:spPr>
        <p:txBody>
          <a:bodyPr wrap="square" lIns="0" tIns="0" rIns="0" bIns="0" rtlCol="0" anchor="t"/>
          <a:lstStyle/>
          <a:p>
            <a:pPr indent="0" marL="0">
              <a:buNone/>
            </a:pPr>
            <a:r>
              <a:rPr lang="en-US" sz="1800" b="1" dirty="0">
                <a:solidFill>
                  <a:schemeClr val="tx2"/>
                </a:solidFill>
              </a:rPr>
              <a:t>Reporting</a:t>
            </a:r>
            <a:endParaRPr lang="en-US" sz="1800" dirty="0"/>
          </a:p>
        </p:txBody>
      </p:sp>
      <p:sp>
        <p:nvSpPr>
          <p:cNvPr id="22" name="Objective Text 3"/>
          <p:cNvSpPr txBox="1"/>
          <p:nvPr/>
        </p:nvSpPr>
        <p:spPr>
          <a:xfrm>
            <a:off x="5330952" y="5303520"/>
            <a:ext cx="2606040" cy="594360"/>
          </a:xfrm>
          <a:prstGeom prst="rect">
            <a:avLst/>
          </a:prstGeom>
          <a:noFill/>
          <a:ln/>
        </p:spPr>
        <p:txBody>
          <a:bodyPr wrap="square" lIns="0" tIns="0" rIns="0" bIns="0" rtlCol="0" anchor="t"/>
          <a:lstStyle/>
          <a:p>
            <a:pPr indent="0" marL="0">
              <a:buNone/>
            </a:pPr>
            <a:r>
              <a:rPr lang="en-US" sz="1400" dirty="0">
                <a:solidFill>
                  <a:schemeClr val="accent4"/>
                </a:solidFill>
              </a:rPr>
              <a:t>Report accidents and submit complaints or feedback.</a:t>
            </a:r>
            <a:endParaRPr lang="en-US" sz="1400" dirty="0"/>
          </a:p>
        </p:txBody>
      </p:sp>
      <p:sp>
        <p:nvSpPr>
          <p:cNvPr id="23" name="Objective Card 4"/>
          <p:cNvSpPr/>
          <p:nvPr/>
        </p:nvSpPr>
        <p:spPr>
          <a:xfrm>
            <a:off x="8485632" y="3886200"/>
            <a:ext cx="3154680" cy="2148840"/>
          </a:xfrm>
          <a:prstGeom prst="roundRect">
            <a:avLst>
              <a:gd name="adj" fmla="val 4255"/>
            </a:avLst>
          </a:prstGeom>
          <a:solidFill>
            <a:schemeClr val="bg2"/>
          </a:solidFill>
          <a:ln/>
        </p:spPr>
      </p:sp>
      <p:sp>
        <p:nvSpPr>
          <p:cNvPr id="24" name="Objective Icon Circle 4"/>
          <p:cNvSpPr/>
          <p:nvPr/>
        </p:nvSpPr>
        <p:spPr>
          <a:xfrm>
            <a:off x="8759952" y="4160520"/>
            <a:ext cx="640080" cy="640080"/>
          </a:xfrm>
          <a:prstGeom prst="ellipse">
            <a:avLst/>
          </a:prstGeom>
          <a:solidFill>
            <a:schemeClr val="accent1"/>
          </a:solidFill>
          <a:ln/>
        </p:spPr>
      </p:sp>
      <p:pic>
        <p:nvPicPr>
          <p:cNvPr id="25" name="Emergency contacts icon" descr="Emergency contacts icon">    </p:cNvPr>
          <p:cNvPicPr>
            <a:picLocks noChangeAspect="1"/>
          </p:cNvPicPr>
          <p:nvPr/>
        </p:nvPicPr>
        <p:blipFill>
          <a:blip r:embed="rId5"/>
          <a:stretch>
            <a:fillRect/>
          </a:stretch>
        </p:blipFill>
        <p:spPr>
          <a:xfrm>
            <a:off x="8915400" y="4315968"/>
            <a:ext cx="329184" cy="329184"/>
          </a:xfrm>
          <a:prstGeom prst="rect">
            <a:avLst/>
          </a:prstGeom>
        </p:spPr>
      </p:pic>
      <p:sp>
        <p:nvSpPr>
          <p:cNvPr id="26" name="Objective Title 4"/>
          <p:cNvSpPr txBox="1"/>
          <p:nvPr/>
        </p:nvSpPr>
        <p:spPr>
          <a:xfrm>
            <a:off x="8759952" y="4937760"/>
            <a:ext cx="2606040" cy="320040"/>
          </a:xfrm>
          <a:prstGeom prst="rect">
            <a:avLst/>
          </a:prstGeom>
          <a:noFill/>
          <a:ln/>
        </p:spPr>
        <p:txBody>
          <a:bodyPr wrap="square" lIns="0" tIns="0" rIns="0" bIns="0" rtlCol="0" anchor="t"/>
          <a:lstStyle/>
          <a:p>
            <a:pPr indent="0" marL="0">
              <a:buNone/>
            </a:pPr>
            <a:r>
              <a:rPr lang="en-US" sz="1800" b="1" dirty="0">
                <a:solidFill>
                  <a:schemeClr val="tx2"/>
                </a:solidFill>
              </a:rPr>
              <a:t>Emergency contacts</a:t>
            </a:r>
            <a:endParaRPr lang="en-US" sz="1800" dirty="0"/>
          </a:p>
        </p:txBody>
      </p:sp>
      <p:sp>
        <p:nvSpPr>
          <p:cNvPr id="27" name="Objective Text 4"/>
          <p:cNvSpPr txBox="1"/>
          <p:nvPr/>
        </p:nvSpPr>
        <p:spPr>
          <a:xfrm>
            <a:off x="8759952" y="5303520"/>
            <a:ext cx="2606040" cy="594360"/>
          </a:xfrm>
          <a:prstGeom prst="rect">
            <a:avLst/>
          </a:prstGeom>
          <a:noFill/>
          <a:ln/>
        </p:spPr>
        <p:txBody>
          <a:bodyPr wrap="square" lIns="0" tIns="0" rIns="0" bIns="0" rtlCol="0" anchor="t"/>
          <a:lstStyle/>
          <a:p>
            <a:pPr indent="0" marL="0">
              <a:buNone/>
            </a:pPr>
            <a:r>
              <a:rPr lang="en-US" sz="1400" dirty="0">
                <a:solidFill>
                  <a:schemeClr val="accent4"/>
                </a:solidFill>
              </a:rPr>
              <a:t>Quick access to emergency services and contact details.</a:t>
            </a:r>
            <a:endParaRPr lang="en-US" sz="1400" dirty="0"/>
          </a:p>
        </p:txBody>
      </p:sp>
      <p:sp>
        <p:nvSpPr>
          <p:cNvPr id="25" name="Slide Number Placeholder 0"/>
          <p:cNvSpPr>
            <a:spLocks noGrp="1"/>
          </p:cNvSpPr>
          <p:nvPr>
            <p:ph type="sldNum" sz="quarter" idx="4294967295"/>
          </p:nvPr>
        </p:nvSpPr>
        <p:spPr>
          <a:xfrm>
            <a:off x="10908792"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Key Features</a:t>
            </a:r>
            <a:endParaRPr lang="en-US" sz="3600" dirty="0"/>
          </a:p>
        </p:txBody>
      </p:sp>
      <p:sp>
        <p:nvSpPr>
          <p:cNvPr id="3" name="Feature Card 1"/>
          <p:cNvSpPr/>
          <p:nvPr/>
        </p:nvSpPr>
        <p:spPr>
          <a:xfrm>
            <a:off x="548640" y="1463040"/>
            <a:ext cx="5408676" cy="960120"/>
          </a:xfrm>
          <a:prstGeom prst="roundRect">
            <a:avLst>
              <a:gd name="adj" fmla="val 9524"/>
            </a:avLst>
          </a:prstGeom>
          <a:solidFill>
            <a:schemeClr val="bg2"/>
          </a:solidFill>
          <a:ln/>
        </p:spPr>
      </p:sp>
      <p:sp>
        <p:nvSpPr>
          <p:cNvPr id="4" name="Feature Icon Circle 1"/>
          <p:cNvSpPr/>
          <p:nvPr/>
        </p:nvSpPr>
        <p:spPr>
          <a:xfrm>
            <a:off x="777240" y="1645920"/>
            <a:ext cx="594360" cy="594360"/>
          </a:xfrm>
          <a:prstGeom prst="ellipse">
            <a:avLst/>
          </a:prstGeom>
          <a:solidFill>
            <a:schemeClr val="tx2"/>
          </a:solidFill>
          <a:ln/>
        </p:spPr>
      </p:sp>
      <p:pic>
        <p:nvPicPr>
          <p:cNvPr id="5" name="Traffic Management icon" descr="Traffic Management icon">    </p:cNvPr>
          <p:cNvPicPr>
            <a:picLocks noChangeAspect="1"/>
          </p:cNvPicPr>
          <p:nvPr/>
        </p:nvPicPr>
        <p:blipFill>
          <a:blip r:embed="rId1"/>
          <a:stretch>
            <a:fillRect/>
          </a:stretch>
        </p:blipFill>
        <p:spPr>
          <a:xfrm>
            <a:off x="928116" y="1796796"/>
            <a:ext cx="292608" cy="292608"/>
          </a:xfrm>
          <a:prstGeom prst="rect">
            <a:avLst/>
          </a:prstGeom>
        </p:spPr>
      </p:pic>
      <p:sp>
        <p:nvSpPr>
          <p:cNvPr id="6" name="Feature Title 1"/>
          <p:cNvSpPr txBox="1"/>
          <p:nvPr/>
        </p:nvSpPr>
        <p:spPr>
          <a:xfrm>
            <a:off x="1645920" y="1645920"/>
            <a:ext cx="4128516" cy="320040"/>
          </a:xfrm>
          <a:prstGeom prst="rect">
            <a:avLst/>
          </a:prstGeom>
          <a:noFill/>
          <a:ln/>
        </p:spPr>
        <p:txBody>
          <a:bodyPr wrap="square" lIns="0" tIns="0" rIns="0" bIns="0" rtlCol="0" anchor="t"/>
          <a:lstStyle/>
          <a:p>
            <a:pPr indent="0" marL="0">
              <a:buNone/>
            </a:pPr>
            <a:r>
              <a:rPr lang="en-US" sz="1800" b="1" dirty="0">
                <a:solidFill>
                  <a:schemeClr val="tx2"/>
                </a:solidFill>
              </a:rPr>
              <a:t>Traffic Management</a:t>
            </a:r>
            <a:endParaRPr lang="en-US" sz="1800" dirty="0"/>
          </a:p>
        </p:txBody>
      </p:sp>
      <p:sp>
        <p:nvSpPr>
          <p:cNvPr id="7" name="Feature Text 1"/>
          <p:cNvSpPr txBox="1"/>
          <p:nvPr/>
        </p:nvSpPr>
        <p:spPr>
          <a:xfrm>
            <a:off x="1645920" y="1993392"/>
            <a:ext cx="4128516" cy="274320"/>
          </a:xfrm>
          <a:prstGeom prst="rect">
            <a:avLst/>
          </a:prstGeom>
          <a:noFill/>
          <a:ln/>
        </p:spPr>
        <p:txBody>
          <a:bodyPr wrap="square" lIns="0" tIns="0" rIns="0" bIns="0" rtlCol="0" anchor="t"/>
          <a:lstStyle/>
          <a:p>
            <a:pPr indent="0" marL="0">
              <a:buNone/>
            </a:pPr>
            <a:r>
              <a:rPr lang="en-US" sz="1400" dirty="0">
                <a:solidFill>
                  <a:schemeClr val="accent4"/>
                </a:solidFill>
              </a:rPr>
              <a:t>View and organize traffic information.</a:t>
            </a:r>
            <a:endParaRPr lang="en-US" sz="1400" dirty="0"/>
          </a:p>
        </p:txBody>
      </p:sp>
      <p:sp>
        <p:nvSpPr>
          <p:cNvPr id="8" name="Feature Card 2"/>
          <p:cNvSpPr/>
          <p:nvPr/>
        </p:nvSpPr>
        <p:spPr>
          <a:xfrm>
            <a:off x="548640" y="2624328"/>
            <a:ext cx="5408676" cy="960120"/>
          </a:xfrm>
          <a:prstGeom prst="roundRect">
            <a:avLst>
              <a:gd name="adj" fmla="val 9524"/>
            </a:avLst>
          </a:prstGeom>
          <a:solidFill>
            <a:schemeClr val="bg2"/>
          </a:solidFill>
          <a:ln/>
        </p:spPr>
      </p:sp>
      <p:sp>
        <p:nvSpPr>
          <p:cNvPr id="9" name="Feature Icon Circle 2"/>
          <p:cNvSpPr/>
          <p:nvPr/>
        </p:nvSpPr>
        <p:spPr>
          <a:xfrm>
            <a:off x="777240" y="2807208"/>
            <a:ext cx="594360" cy="594360"/>
          </a:xfrm>
          <a:prstGeom prst="ellipse">
            <a:avLst/>
          </a:prstGeom>
          <a:solidFill>
            <a:schemeClr val="tx2"/>
          </a:solidFill>
          <a:ln/>
        </p:spPr>
      </p:sp>
      <p:pic>
        <p:nvPicPr>
          <p:cNvPr id="10" name="Road Conditions icon" descr="Road Conditions icon">    </p:cNvPr>
          <p:cNvPicPr>
            <a:picLocks noChangeAspect="1"/>
          </p:cNvPicPr>
          <p:nvPr/>
        </p:nvPicPr>
        <p:blipFill>
          <a:blip r:embed="rId2"/>
          <a:stretch>
            <a:fillRect/>
          </a:stretch>
        </p:blipFill>
        <p:spPr>
          <a:xfrm>
            <a:off x="928116" y="2958084"/>
            <a:ext cx="292608" cy="292608"/>
          </a:xfrm>
          <a:prstGeom prst="rect">
            <a:avLst/>
          </a:prstGeom>
        </p:spPr>
      </p:pic>
      <p:sp>
        <p:nvSpPr>
          <p:cNvPr id="11" name="Feature Title 2"/>
          <p:cNvSpPr txBox="1"/>
          <p:nvPr/>
        </p:nvSpPr>
        <p:spPr>
          <a:xfrm>
            <a:off x="1645920" y="2807208"/>
            <a:ext cx="4128516" cy="320040"/>
          </a:xfrm>
          <a:prstGeom prst="rect">
            <a:avLst/>
          </a:prstGeom>
          <a:noFill/>
          <a:ln/>
        </p:spPr>
        <p:txBody>
          <a:bodyPr wrap="square" lIns="0" tIns="0" rIns="0" bIns="0" rtlCol="0" anchor="t"/>
          <a:lstStyle/>
          <a:p>
            <a:pPr indent="0" marL="0">
              <a:buNone/>
            </a:pPr>
            <a:r>
              <a:rPr lang="en-US" sz="1800" b="1" dirty="0">
                <a:solidFill>
                  <a:schemeClr val="tx2"/>
                </a:solidFill>
              </a:rPr>
              <a:t>Road Conditions</a:t>
            </a:r>
            <a:endParaRPr lang="en-US" sz="1800" dirty="0"/>
          </a:p>
        </p:txBody>
      </p:sp>
      <p:sp>
        <p:nvSpPr>
          <p:cNvPr id="12" name="Feature Text 2"/>
          <p:cNvSpPr txBox="1"/>
          <p:nvPr/>
        </p:nvSpPr>
        <p:spPr>
          <a:xfrm>
            <a:off x="1645920" y="3154680"/>
            <a:ext cx="4128516" cy="274320"/>
          </a:xfrm>
          <a:prstGeom prst="rect">
            <a:avLst/>
          </a:prstGeom>
          <a:noFill/>
          <a:ln/>
        </p:spPr>
        <p:txBody>
          <a:bodyPr wrap="square" lIns="0" tIns="0" rIns="0" bIns="0" rtlCol="0" anchor="t"/>
          <a:lstStyle/>
          <a:p>
            <a:pPr indent="0" marL="0">
              <a:buNone/>
            </a:pPr>
            <a:r>
              <a:rPr lang="en-US" sz="1400" dirty="0">
                <a:solidFill>
                  <a:schemeClr val="accent4"/>
                </a:solidFill>
              </a:rPr>
              <a:t>Check road status and known issues.</a:t>
            </a:r>
            <a:endParaRPr lang="en-US" sz="1400" dirty="0"/>
          </a:p>
        </p:txBody>
      </p:sp>
      <p:sp>
        <p:nvSpPr>
          <p:cNvPr id="13" name="Feature Card 3"/>
          <p:cNvSpPr/>
          <p:nvPr/>
        </p:nvSpPr>
        <p:spPr>
          <a:xfrm>
            <a:off x="548640" y="3785616"/>
            <a:ext cx="5408676" cy="960120"/>
          </a:xfrm>
          <a:prstGeom prst="roundRect">
            <a:avLst>
              <a:gd name="adj" fmla="val 9524"/>
            </a:avLst>
          </a:prstGeom>
          <a:solidFill>
            <a:schemeClr val="bg2"/>
          </a:solidFill>
          <a:ln/>
        </p:spPr>
      </p:sp>
      <p:sp>
        <p:nvSpPr>
          <p:cNvPr id="14" name="Feature Icon Circle 3"/>
          <p:cNvSpPr/>
          <p:nvPr/>
        </p:nvSpPr>
        <p:spPr>
          <a:xfrm>
            <a:off x="777240" y="3968496"/>
            <a:ext cx="594360" cy="594360"/>
          </a:xfrm>
          <a:prstGeom prst="ellipse">
            <a:avLst/>
          </a:prstGeom>
          <a:solidFill>
            <a:schemeClr val="tx2"/>
          </a:solidFill>
          <a:ln/>
        </p:spPr>
      </p:sp>
      <p:pic>
        <p:nvPicPr>
          <p:cNvPr id="15" name="Route Management icon" descr="Route Management icon">    </p:cNvPr>
          <p:cNvPicPr>
            <a:picLocks noChangeAspect="1"/>
          </p:cNvPicPr>
          <p:nvPr/>
        </p:nvPicPr>
        <p:blipFill>
          <a:blip r:embed="rId3"/>
          <a:stretch>
            <a:fillRect/>
          </a:stretch>
        </p:blipFill>
        <p:spPr>
          <a:xfrm>
            <a:off x="928116" y="4119372"/>
            <a:ext cx="292608" cy="292608"/>
          </a:xfrm>
          <a:prstGeom prst="rect">
            <a:avLst/>
          </a:prstGeom>
        </p:spPr>
      </p:pic>
      <p:sp>
        <p:nvSpPr>
          <p:cNvPr id="16" name="Feature Title 3"/>
          <p:cNvSpPr txBox="1"/>
          <p:nvPr/>
        </p:nvSpPr>
        <p:spPr>
          <a:xfrm>
            <a:off x="1645920" y="3968496"/>
            <a:ext cx="4128516" cy="320040"/>
          </a:xfrm>
          <a:prstGeom prst="rect">
            <a:avLst/>
          </a:prstGeom>
          <a:noFill/>
          <a:ln/>
        </p:spPr>
        <p:txBody>
          <a:bodyPr wrap="square" lIns="0" tIns="0" rIns="0" bIns="0" rtlCol="0" anchor="t"/>
          <a:lstStyle/>
          <a:p>
            <a:pPr indent="0" marL="0">
              <a:buNone/>
            </a:pPr>
            <a:r>
              <a:rPr lang="en-US" sz="1800" b="1" dirty="0">
                <a:solidFill>
                  <a:schemeClr val="tx2"/>
                </a:solidFill>
              </a:rPr>
              <a:t>Route Management</a:t>
            </a:r>
            <a:endParaRPr lang="en-US" sz="1800" dirty="0"/>
          </a:p>
        </p:txBody>
      </p:sp>
      <p:sp>
        <p:nvSpPr>
          <p:cNvPr id="17" name="Feature Text 3"/>
          <p:cNvSpPr txBox="1"/>
          <p:nvPr/>
        </p:nvSpPr>
        <p:spPr>
          <a:xfrm>
            <a:off x="1645920" y="4315968"/>
            <a:ext cx="4128516" cy="274320"/>
          </a:xfrm>
          <a:prstGeom prst="rect">
            <a:avLst/>
          </a:prstGeom>
          <a:noFill/>
          <a:ln/>
        </p:spPr>
        <p:txBody>
          <a:bodyPr wrap="square" lIns="0" tIns="0" rIns="0" bIns="0" rtlCol="0" anchor="t"/>
          <a:lstStyle/>
          <a:p>
            <a:pPr indent="0" marL="0">
              <a:buNone/>
            </a:pPr>
            <a:r>
              <a:rPr lang="en-US" sz="1400" dirty="0">
                <a:solidFill>
                  <a:schemeClr val="accent4"/>
                </a:solidFill>
              </a:rPr>
              <a:t>Manage route details for route awareness.</a:t>
            </a:r>
            <a:endParaRPr lang="en-US" sz="1400" dirty="0"/>
          </a:p>
        </p:txBody>
      </p:sp>
      <p:sp>
        <p:nvSpPr>
          <p:cNvPr id="18" name="Feature Card 4"/>
          <p:cNvSpPr/>
          <p:nvPr/>
        </p:nvSpPr>
        <p:spPr>
          <a:xfrm>
            <a:off x="548640" y="4946904"/>
            <a:ext cx="5408676" cy="960120"/>
          </a:xfrm>
          <a:prstGeom prst="roundRect">
            <a:avLst>
              <a:gd name="adj" fmla="val 9524"/>
            </a:avLst>
          </a:prstGeom>
          <a:solidFill>
            <a:schemeClr val="bg2"/>
          </a:solidFill>
          <a:ln/>
        </p:spPr>
      </p:sp>
      <p:sp>
        <p:nvSpPr>
          <p:cNvPr id="19" name="Feature Icon Circle 4"/>
          <p:cNvSpPr/>
          <p:nvPr/>
        </p:nvSpPr>
        <p:spPr>
          <a:xfrm>
            <a:off x="777240" y="5129784"/>
            <a:ext cx="594360" cy="594360"/>
          </a:xfrm>
          <a:prstGeom prst="ellipse">
            <a:avLst/>
          </a:prstGeom>
          <a:solidFill>
            <a:schemeClr val="tx2"/>
          </a:solidFill>
          <a:ln/>
        </p:spPr>
      </p:sp>
      <p:pic>
        <p:nvPicPr>
          <p:cNvPr id="20" name="Accident Reporting icon" descr="Accident Reporting icon">    </p:cNvPr>
          <p:cNvPicPr>
            <a:picLocks noChangeAspect="1"/>
          </p:cNvPicPr>
          <p:nvPr/>
        </p:nvPicPr>
        <p:blipFill>
          <a:blip r:embed="rId4"/>
          <a:stretch>
            <a:fillRect/>
          </a:stretch>
        </p:blipFill>
        <p:spPr>
          <a:xfrm>
            <a:off x="928116" y="5280660"/>
            <a:ext cx="292608" cy="292608"/>
          </a:xfrm>
          <a:prstGeom prst="rect">
            <a:avLst/>
          </a:prstGeom>
        </p:spPr>
      </p:pic>
      <p:sp>
        <p:nvSpPr>
          <p:cNvPr id="21" name="Feature Title 4"/>
          <p:cNvSpPr txBox="1"/>
          <p:nvPr/>
        </p:nvSpPr>
        <p:spPr>
          <a:xfrm>
            <a:off x="1645920" y="5129784"/>
            <a:ext cx="4128516" cy="320040"/>
          </a:xfrm>
          <a:prstGeom prst="rect">
            <a:avLst/>
          </a:prstGeom>
          <a:noFill/>
          <a:ln/>
        </p:spPr>
        <p:txBody>
          <a:bodyPr wrap="square" lIns="0" tIns="0" rIns="0" bIns="0" rtlCol="0" anchor="t"/>
          <a:lstStyle/>
          <a:p>
            <a:pPr indent="0" marL="0">
              <a:buNone/>
            </a:pPr>
            <a:r>
              <a:rPr lang="en-US" sz="1800" b="1" dirty="0">
                <a:solidFill>
                  <a:schemeClr val="tx2"/>
                </a:solidFill>
              </a:rPr>
              <a:t>Accident Reporting</a:t>
            </a:r>
            <a:endParaRPr lang="en-US" sz="1800" dirty="0"/>
          </a:p>
        </p:txBody>
      </p:sp>
      <p:sp>
        <p:nvSpPr>
          <p:cNvPr id="22" name="Feature Text 4"/>
          <p:cNvSpPr txBox="1"/>
          <p:nvPr/>
        </p:nvSpPr>
        <p:spPr>
          <a:xfrm>
            <a:off x="1645920" y="5477256"/>
            <a:ext cx="4128516" cy="274320"/>
          </a:xfrm>
          <a:prstGeom prst="rect">
            <a:avLst/>
          </a:prstGeom>
          <a:noFill/>
          <a:ln/>
        </p:spPr>
        <p:txBody>
          <a:bodyPr wrap="square" lIns="0" tIns="0" rIns="0" bIns="0" rtlCol="0" anchor="t"/>
          <a:lstStyle/>
          <a:p>
            <a:pPr indent="0" marL="0">
              <a:buNone/>
            </a:pPr>
            <a:r>
              <a:rPr lang="en-US" sz="1400" dirty="0">
                <a:solidFill>
                  <a:schemeClr val="accent4"/>
                </a:solidFill>
              </a:rPr>
              <a:t>Submit accident details through a web form.</a:t>
            </a:r>
            <a:endParaRPr lang="en-US" sz="1400" dirty="0"/>
          </a:p>
        </p:txBody>
      </p:sp>
      <p:sp>
        <p:nvSpPr>
          <p:cNvPr id="23" name="Feature Card 5"/>
          <p:cNvSpPr/>
          <p:nvPr/>
        </p:nvSpPr>
        <p:spPr>
          <a:xfrm>
            <a:off x="6231636" y="1463040"/>
            <a:ext cx="5408676" cy="960120"/>
          </a:xfrm>
          <a:prstGeom prst="roundRect">
            <a:avLst>
              <a:gd name="adj" fmla="val 9524"/>
            </a:avLst>
          </a:prstGeom>
          <a:solidFill>
            <a:schemeClr val="bg2"/>
          </a:solidFill>
          <a:ln/>
        </p:spPr>
      </p:sp>
      <p:sp>
        <p:nvSpPr>
          <p:cNvPr id="24" name="Feature Icon Circle 5"/>
          <p:cNvSpPr/>
          <p:nvPr/>
        </p:nvSpPr>
        <p:spPr>
          <a:xfrm>
            <a:off x="6460236" y="1645920"/>
            <a:ext cx="594360" cy="594360"/>
          </a:xfrm>
          <a:prstGeom prst="ellipse">
            <a:avLst/>
          </a:prstGeom>
          <a:solidFill>
            <a:schemeClr val="tx2"/>
          </a:solidFill>
          <a:ln/>
        </p:spPr>
      </p:sp>
      <p:pic>
        <p:nvPicPr>
          <p:cNvPr id="25" name="Complaints &amp; Feedback icon" descr="Complaints &amp; Feedback icon">    </p:cNvPr>
          <p:cNvPicPr>
            <a:picLocks noChangeAspect="1"/>
          </p:cNvPicPr>
          <p:nvPr/>
        </p:nvPicPr>
        <p:blipFill>
          <a:blip r:embed="rId5"/>
          <a:stretch>
            <a:fillRect/>
          </a:stretch>
        </p:blipFill>
        <p:spPr>
          <a:xfrm>
            <a:off x="6611112" y="1796796"/>
            <a:ext cx="292608" cy="292608"/>
          </a:xfrm>
          <a:prstGeom prst="rect">
            <a:avLst/>
          </a:prstGeom>
        </p:spPr>
      </p:pic>
      <p:sp>
        <p:nvSpPr>
          <p:cNvPr id="26" name="Feature Title 5"/>
          <p:cNvSpPr txBox="1"/>
          <p:nvPr/>
        </p:nvSpPr>
        <p:spPr>
          <a:xfrm>
            <a:off x="7328916" y="1645920"/>
            <a:ext cx="4128516" cy="320040"/>
          </a:xfrm>
          <a:prstGeom prst="rect">
            <a:avLst/>
          </a:prstGeom>
          <a:noFill/>
          <a:ln/>
        </p:spPr>
        <p:txBody>
          <a:bodyPr wrap="square" lIns="0" tIns="0" rIns="0" bIns="0" rtlCol="0" anchor="t"/>
          <a:lstStyle/>
          <a:p>
            <a:pPr indent="0" marL="0">
              <a:buNone/>
            </a:pPr>
            <a:r>
              <a:rPr lang="en-US" sz="1800" b="1" dirty="0">
                <a:solidFill>
                  <a:schemeClr val="tx2"/>
                </a:solidFill>
              </a:rPr>
              <a:t>Complaints &amp; Feedback</a:t>
            </a:r>
            <a:endParaRPr lang="en-US" sz="1800" dirty="0"/>
          </a:p>
        </p:txBody>
      </p:sp>
      <p:sp>
        <p:nvSpPr>
          <p:cNvPr id="27" name="Feature Text 5"/>
          <p:cNvSpPr txBox="1"/>
          <p:nvPr/>
        </p:nvSpPr>
        <p:spPr>
          <a:xfrm>
            <a:off x="7328916" y="1993392"/>
            <a:ext cx="4128516" cy="274320"/>
          </a:xfrm>
          <a:prstGeom prst="rect">
            <a:avLst/>
          </a:prstGeom>
          <a:noFill/>
          <a:ln/>
        </p:spPr>
        <p:txBody>
          <a:bodyPr wrap="square" lIns="0" tIns="0" rIns="0" bIns="0" rtlCol="0" anchor="t"/>
          <a:lstStyle/>
          <a:p>
            <a:pPr indent="0" marL="0">
              <a:buNone/>
            </a:pPr>
            <a:r>
              <a:rPr lang="en-US" sz="1400" dirty="0">
                <a:solidFill>
                  <a:schemeClr val="accent4"/>
                </a:solidFill>
              </a:rPr>
              <a:t>Raise road-related complaints and feedback.</a:t>
            </a:r>
            <a:endParaRPr lang="en-US" sz="1400" dirty="0"/>
          </a:p>
        </p:txBody>
      </p:sp>
      <p:sp>
        <p:nvSpPr>
          <p:cNvPr id="28" name="Feature Card 6"/>
          <p:cNvSpPr/>
          <p:nvPr/>
        </p:nvSpPr>
        <p:spPr>
          <a:xfrm>
            <a:off x="6231636" y="2624328"/>
            <a:ext cx="5408676" cy="960120"/>
          </a:xfrm>
          <a:prstGeom prst="roundRect">
            <a:avLst>
              <a:gd name="adj" fmla="val 9524"/>
            </a:avLst>
          </a:prstGeom>
          <a:solidFill>
            <a:schemeClr val="bg2"/>
          </a:solidFill>
          <a:ln/>
        </p:spPr>
      </p:sp>
      <p:sp>
        <p:nvSpPr>
          <p:cNvPr id="29" name="Feature Icon Circle 6"/>
          <p:cNvSpPr/>
          <p:nvPr/>
        </p:nvSpPr>
        <p:spPr>
          <a:xfrm>
            <a:off x="6460236" y="2807208"/>
            <a:ext cx="594360" cy="594360"/>
          </a:xfrm>
          <a:prstGeom prst="ellipse">
            <a:avLst/>
          </a:prstGeom>
          <a:solidFill>
            <a:schemeClr val="tx2"/>
          </a:solidFill>
          <a:ln/>
        </p:spPr>
      </p:sp>
      <p:pic>
        <p:nvPicPr>
          <p:cNvPr id="30" name="Emergency Services icon" descr="Emergency Services icon">    </p:cNvPr>
          <p:cNvPicPr>
            <a:picLocks noChangeAspect="1"/>
          </p:cNvPicPr>
          <p:nvPr/>
        </p:nvPicPr>
        <p:blipFill>
          <a:blip r:embed="rId6"/>
          <a:stretch>
            <a:fillRect/>
          </a:stretch>
        </p:blipFill>
        <p:spPr>
          <a:xfrm>
            <a:off x="6611112" y="2958084"/>
            <a:ext cx="292608" cy="292608"/>
          </a:xfrm>
          <a:prstGeom prst="rect">
            <a:avLst/>
          </a:prstGeom>
        </p:spPr>
      </p:pic>
      <p:sp>
        <p:nvSpPr>
          <p:cNvPr id="31" name="Feature Title 6"/>
          <p:cNvSpPr txBox="1"/>
          <p:nvPr/>
        </p:nvSpPr>
        <p:spPr>
          <a:xfrm>
            <a:off x="7328916" y="2807208"/>
            <a:ext cx="4128516" cy="320040"/>
          </a:xfrm>
          <a:prstGeom prst="rect">
            <a:avLst/>
          </a:prstGeom>
          <a:noFill/>
          <a:ln/>
        </p:spPr>
        <p:txBody>
          <a:bodyPr wrap="square" lIns="0" tIns="0" rIns="0" bIns="0" rtlCol="0" anchor="t"/>
          <a:lstStyle/>
          <a:p>
            <a:pPr indent="0" marL="0">
              <a:buNone/>
            </a:pPr>
            <a:r>
              <a:rPr lang="en-US" sz="1800" b="1" dirty="0">
                <a:solidFill>
                  <a:schemeClr val="tx2"/>
                </a:solidFill>
              </a:rPr>
              <a:t>Emergency Services</a:t>
            </a:r>
            <a:endParaRPr lang="en-US" sz="1800" dirty="0"/>
          </a:p>
        </p:txBody>
      </p:sp>
      <p:sp>
        <p:nvSpPr>
          <p:cNvPr id="32" name="Feature Text 6"/>
          <p:cNvSpPr txBox="1"/>
          <p:nvPr/>
        </p:nvSpPr>
        <p:spPr>
          <a:xfrm>
            <a:off x="7328916" y="3154680"/>
            <a:ext cx="4128516" cy="274320"/>
          </a:xfrm>
          <a:prstGeom prst="rect">
            <a:avLst/>
          </a:prstGeom>
          <a:noFill/>
          <a:ln/>
        </p:spPr>
        <p:txBody>
          <a:bodyPr wrap="square" lIns="0" tIns="0" rIns="0" bIns="0" rtlCol="0" anchor="t"/>
          <a:lstStyle/>
          <a:p>
            <a:pPr indent="0" marL="0">
              <a:buNone/>
            </a:pPr>
            <a:r>
              <a:rPr lang="en-US" sz="1400" dirty="0">
                <a:solidFill>
                  <a:schemeClr val="accent4"/>
                </a:solidFill>
              </a:rPr>
              <a:t>Find emergency contact numbers quickly.</a:t>
            </a:r>
            <a:endParaRPr lang="en-US" sz="1400" dirty="0"/>
          </a:p>
        </p:txBody>
      </p:sp>
      <p:sp>
        <p:nvSpPr>
          <p:cNvPr id="33" name="Feature Card 7"/>
          <p:cNvSpPr/>
          <p:nvPr/>
        </p:nvSpPr>
        <p:spPr>
          <a:xfrm>
            <a:off x="6231636" y="3785616"/>
            <a:ext cx="5408676" cy="960120"/>
          </a:xfrm>
          <a:prstGeom prst="roundRect">
            <a:avLst>
              <a:gd name="adj" fmla="val 9524"/>
            </a:avLst>
          </a:prstGeom>
          <a:solidFill>
            <a:schemeClr val="bg2"/>
          </a:solidFill>
          <a:ln/>
        </p:spPr>
      </p:sp>
      <p:sp>
        <p:nvSpPr>
          <p:cNvPr id="34" name="Feature Icon Circle 7"/>
          <p:cNvSpPr/>
          <p:nvPr/>
        </p:nvSpPr>
        <p:spPr>
          <a:xfrm>
            <a:off x="6460236" y="3968496"/>
            <a:ext cx="594360" cy="594360"/>
          </a:xfrm>
          <a:prstGeom prst="ellipse">
            <a:avLst/>
          </a:prstGeom>
          <a:solidFill>
            <a:schemeClr val="tx2"/>
          </a:solidFill>
          <a:ln/>
        </p:spPr>
      </p:sp>
      <p:pic>
        <p:nvPicPr>
          <p:cNvPr id="35" name="Contact Us icon" descr="Contact Us icon">    </p:cNvPr>
          <p:cNvPicPr>
            <a:picLocks noChangeAspect="1"/>
          </p:cNvPicPr>
          <p:nvPr/>
        </p:nvPicPr>
        <p:blipFill>
          <a:blip r:embed="rId7"/>
          <a:stretch>
            <a:fillRect/>
          </a:stretch>
        </p:blipFill>
        <p:spPr>
          <a:xfrm>
            <a:off x="6611112" y="4119372"/>
            <a:ext cx="292608" cy="292608"/>
          </a:xfrm>
          <a:prstGeom prst="rect">
            <a:avLst/>
          </a:prstGeom>
        </p:spPr>
      </p:pic>
      <p:sp>
        <p:nvSpPr>
          <p:cNvPr id="36" name="Feature Title 7"/>
          <p:cNvSpPr txBox="1"/>
          <p:nvPr/>
        </p:nvSpPr>
        <p:spPr>
          <a:xfrm>
            <a:off x="7328916" y="3968496"/>
            <a:ext cx="4128516" cy="320040"/>
          </a:xfrm>
          <a:prstGeom prst="rect">
            <a:avLst/>
          </a:prstGeom>
          <a:noFill/>
          <a:ln/>
        </p:spPr>
        <p:txBody>
          <a:bodyPr wrap="square" lIns="0" tIns="0" rIns="0" bIns="0" rtlCol="0" anchor="t"/>
          <a:lstStyle/>
          <a:p>
            <a:pPr indent="0" marL="0">
              <a:buNone/>
            </a:pPr>
            <a:r>
              <a:rPr lang="en-US" sz="1800" b="1" dirty="0">
                <a:solidFill>
                  <a:schemeClr val="tx2"/>
                </a:solidFill>
              </a:rPr>
              <a:t>Contact Us</a:t>
            </a:r>
            <a:endParaRPr lang="en-US" sz="1800" dirty="0"/>
          </a:p>
        </p:txBody>
      </p:sp>
      <p:sp>
        <p:nvSpPr>
          <p:cNvPr id="37" name="Feature Text 7"/>
          <p:cNvSpPr txBox="1"/>
          <p:nvPr/>
        </p:nvSpPr>
        <p:spPr>
          <a:xfrm>
            <a:off x="7328916" y="4315968"/>
            <a:ext cx="4128516" cy="274320"/>
          </a:xfrm>
          <a:prstGeom prst="rect">
            <a:avLst/>
          </a:prstGeom>
          <a:noFill/>
          <a:ln/>
        </p:spPr>
        <p:txBody>
          <a:bodyPr wrap="square" lIns="0" tIns="0" rIns="0" bIns="0" rtlCol="0" anchor="t"/>
          <a:lstStyle/>
          <a:p>
            <a:pPr indent="0" marL="0">
              <a:buNone/>
            </a:pPr>
            <a:r>
              <a:rPr lang="en-US" sz="1400" dirty="0">
                <a:solidFill>
                  <a:schemeClr val="accent4"/>
                </a:solidFill>
              </a:rPr>
              <a:t>Find contact and support information.</a:t>
            </a:r>
            <a:endParaRPr lang="en-US" sz="1400" dirty="0"/>
          </a:p>
        </p:txBody>
      </p:sp>
      <p:sp>
        <p:nvSpPr>
          <p:cNvPr id="38" name="Summary Callout"/>
          <p:cNvSpPr/>
          <p:nvPr/>
        </p:nvSpPr>
        <p:spPr>
          <a:xfrm>
            <a:off x="6231636" y="4946904"/>
            <a:ext cx="5408676" cy="960120"/>
          </a:xfrm>
          <a:prstGeom prst="roundRect">
            <a:avLst>
              <a:gd name="adj" fmla="val 9524"/>
            </a:avLst>
          </a:prstGeom>
          <a:solidFill>
            <a:schemeClr val="accent1"/>
          </a:solidFill>
          <a:ln/>
        </p:spPr>
      </p:sp>
      <p:sp>
        <p:nvSpPr>
          <p:cNvPr id="39" name="Summary Callout Text"/>
          <p:cNvSpPr txBox="1"/>
          <p:nvPr/>
        </p:nvSpPr>
        <p:spPr>
          <a:xfrm>
            <a:off x="6505956" y="4946904"/>
            <a:ext cx="4860036" cy="960120"/>
          </a:xfrm>
          <a:prstGeom prst="rect">
            <a:avLst/>
          </a:prstGeom>
          <a:noFill/>
          <a:ln/>
        </p:spPr>
        <p:txBody>
          <a:bodyPr wrap="square" lIns="0" tIns="0" rIns="0" bIns="0" rtlCol="0" anchor="ctr"/>
          <a:lstStyle/>
          <a:p>
            <a:pPr indent="0" marL="0">
              <a:buNone/>
            </a:pPr>
            <a:r>
              <a:rPr lang="en-US" sz="2000" b="1" dirty="0">
                <a:solidFill>
                  <a:schemeClr val="bg1"/>
                </a:solidFill>
              </a:rPr>
              <a:t>All seven features in one web interface</a:t>
            </a:r>
            <a:endParaRPr lang="en-US" sz="2000" dirty="0"/>
          </a:p>
        </p:txBody>
      </p:sp>
      <p:sp>
        <p:nvSpPr>
          <p:cNvPr id="25" name="Slide Number Placeholder 0"/>
          <p:cNvSpPr>
            <a:spLocks noGrp="1"/>
          </p:cNvSpPr>
          <p:nvPr>
            <p:ph type="sldNum" sz="quarter" idx="4294967295"/>
          </p:nvPr>
        </p:nvSpPr>
        <p:spPr>
          <a:xfrm>
            <a:off x="10908792"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System Modules</a:t>
            </a:r>
            <a:endParaRPr lang="en-US" sz="3600" dirty="0"/>
          </a:p>
        </p:txBody>
      </p:sp>
      <p:sp>
        <p:nvSpPr>
          <p:cNvPr id="3" name="Module Card 1"/>
          <p:cNvSpPr/>
          <p:nvPr/>
        </p:nvSpPr>
        <p:spPr>
          <a:xfrm>
            <a:off x="548640" y="1463040"/>
            <a:ext cx="2601468" cy="2240280"/>
          </a:xfrm>
          <a:prstGeom prst="roundRect">
            <a:avLst>
              <a:gd name="adj" fmla="val 4082"/>
            </a:avLst>
          </a:prstGeom>
          <a:solidFill>
            <a:schemeClr val="bg2"/>
          </a:solidFill>
          <a:ln/>
        </p:spPr>
      </p:sp>
      <p:sp>
        <p:nvSpPr>
          <p:cNvPr id="4" name="Module Number 1"/>
          <p:cNvSpPr txBox="1"/>
          <p:nvPr/>
        </p:nvSpPr>
        <p:spPr>
          <a:xfrm>
            <a:off x="777240" y="169164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pic>
        <p:nvPicPr>
          <p:cNvPr id="5" name="Home icon" descr="Home icon">    </p:cNvPr>
          <p:cNvPicPr>
            <a:picLocks noChangeAspect="1"/>
          </p:cNvPicPr>
          <p:nvPr/>
        </p:nvPicPr>
        <p:blipFill>
          <a:blip r:embed="rId1"/>
          <a:stretch>
            <a:fillRect/>
          </a:stretch>
        </p:blipFill>
        <p:spPr>
          <a:xfrm>
            <a:off x="2510028" y="1737360"/>
            <a:ext cx="411480" cy="411480"/>
          </a:xfrm>
          <a:prstGeom prst="rect">
            <a:avLst/>
          </a:prstGeom>
        </p:spPr>
      </p:pic>
      <p:sp>
        <p:nvSpPr>
          <p:cNvPr id="6" name="Module Title 1"/>
          <p:cNvSpPr txBox="1"/>
          <p:nvPr/>
        </p:nvSpPr>
        <p:spPr>
          <a:xfrm>
            <a:off x="777240" y="2359152"/>
            <a:ext cx="2144268" cy="502920"/>
          </a:xfrm>
          <a:prstGeom prst="rect">
            <a:avLst/>
          </a:prstGeom>
          <a:noFill/>
          <a:ln/>
        </p:spPr>
        <p:txBody>
          <a:bodyPr wrap="square" lIns="0" tIns="0" rIns="0" bIns="0" rtlCol="0" anchor="t"/>
          <a:lstStyle/>
          <a:p>
            <a:pPr indent="0" marL="0">
              <a:buNone/>
            </a:pPr>
            <a:r>
              <a:rPr lang="en-US" sz="1800" b="1" dirty="0">
                <a:solidFill>
                  <a:schemeClr val="tx2"/>
                </a:solidFill>
              </a:rPr>
              <a:t>Home</a:t>
            </a:r>
            <a:endParaRPr lang="en-US" sz="1800" dirty="0"/>
          </a:p>
        </p:txBody>
      </p:sp>
      <p:sp>
        <p:nvSpPr>
          <p:cNvPr id="7" name="Module Text 1"/>
          <p:cNvSpPr txBox="1"/>
          <p:nvPr/>
        </p:nvSpPr>
        <p:spPr>
          <a:xfrm>
            <a:off x="777240" y="2880360"/>
            <a:ext cx="2144268" cy="685800"/>
          </a:xfrm>
          <a:prstGeom prst="rect">
            <a:avLst/>
          </a:prstGeom>
          <a:noFill/>
          <a:ln/>
        </p:spPr>
        <p:txBody>
          <a:bodyPr wrap="square" lIns="0" tIns="0" rIns="0" bIns="0" rtlCol="0" anchor="t"/>
          <a:lstStyle/>
          <a:p>
            <a:pPr indent="0" marL="0">
              <a:buNone/>
            </a:pPr>
            <a:r>
              <a:rPr lang="en-US" sz="1400" dirty="0">
                <a:solidFill>
                  <a:schemeClr val="accent4"/>
                </a:solidFill>
              </a:rPr>
              <a:t>Entry point linking to every module.</a:t>
            </a:r>
            <a:endParaRPr lang="en-US" sz="1400" dirty="0"/>
          </a:p>
        </p:txBody>
      </p:sp>
      <p:sp>
        <p:nvSpPr>
          <p:cNvPr id="8" name="Module Card 2"/>
          <p:cNvSpPr/>
          <p:nvPr/>
        </p:nvSpPr>
        <p:spPr>
          <a:xfrm>
            <a:off x="3378708" y="1463040"/>
            <a:ext cx="2601468" cy="2240280"/>
          </a:xfrm>
          <a:prstGeom prst="roundRect">
            <a:avLst>
              <a:gd name="adj" fmla="val 4082"/>
            </a:avLst>
          </a:prstGeom>
          <a:solidFill>
            <a:schemeClr val="bg2"/>
          </a:solidFill>
          <a:ln/>
        </p:spPr>
      </p:sp>
      <p:sp>
        <p:nvSpPr>
          <p:cNvPr id="9" name="Module Number 2"/>
          <p:cNvSpPr txBox="1"/>
          <p:nvPr/>
        </p:nvSpPr>
        <p:spPr>
          <a:xfrm>
            <a:off x="3607308" y="169164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pic>
        <p:nvPicPr>
          <p:cNvPr id="10" name="Traffic Management icon" descr="Traffic Management icon">    </p:cNvPr>
          <p:cNvPicPr>
            <a:picLocks noChangeAspect="1"/>
          </p:cNvPicPr>
          <p:nvPr/>
        </p:nvPicPr>
        <p:blipFill>
          <a:blip r:embed="rId2"/>
          <a:stretch>
            <a:fillRect/>
          </a:stretch>
        </p:blipFill>
        <p:spPr>
          <a:xfrm>
            <a:off x="5340096" y="1737360"/>
            <a:ext cx="411480" cy="411480"/>
          </a:xfrm>
          <a:prstGeom prst="rect">
            <a:avLst/>
          </a:prstGeom>
        </p:spPr>
      </p:pic>
      <p:sp>
        <p:nvSpPr>
          <p:cNvPr id="11" name="Module Title 2"/>
          <p:cNvSpPr txBox="1"/>
          <p:nvPr/>
        </p:nvSpPr>
        <p:spPr>
          <a:xfrm>
            <a:off x="3607308" y="2359152"/>
            <a:ext cx="2144268" cy="502920"/>
          </a:xfrm>
          <a:prstGeom prst="rect">
            <a:avLst/>
          </a:prstGeom>
          <a:noFill/>
          <a:ln/>
        </p:spPr>
        <p:txBody>
          <a:bodyPr wrap="square" lIns="0" tIns="0" rIns="0" bIns="0" rtlCol="0" anchor="t"/>
          <a:lstStyle/>
          <a:p>
            <a:pPr indent="0" marL="0">
              <a:buNone/>
            </a:pPr>
            <a:r>
              <a:rPr lang="en-US" sz="1800" b="1" dirty="0">
                <a:solidFill>
                  <a:schemeClr val="tx2"/>
                </a:solidFill>
              </a:rPr>
              <a:t>Traffic Management</a:t>
            </a:r>
            <a:endParaRPr lang="en-US" sz="1800" dirty="0"/>
          </a:p>
        </p:txBody>
      </p:sp>
      <p:sp>
        <p:nvSpPr>
          <p:cNvPr id="12" name="Module Text 2"/>
          <p:cNvSpPr txBox="1"/>
          <p:nvPr/>
        </p:nvSpPr>
        <p:spPr>
          <a:xfrm>
            <a:off x="3607308" y="2880360"/>
            <a:ext cx="2144268" cy="685800"/>
          </a:xfrm>
          <a:prstGeom prst="rect">
            <a:avLst/>
          </a:prstGeom>
          <a:noFill/>
          <a:ln/>
        </p:spPr>
        <p:txBody>
          <a:bodyPr wrap="square" lIns="0" tIns="0" rIns="0" bIns="0" rtlCol="0" anchor="t"/>
          <a:lstStyle/>
          <a:p>
            <a:pPr indent="0" marL="0">
              <a:buNone/>
            </a:pPr>
            <a:r>
              <a:rPr lang="en-US" sz="1400" dirty="0">
                <a:solidFill>
                  <a:schemeClr val="accent4"/>
                </a:solidFill>
              </a:rPr>
              <a:t>Presents traffic information for road users.</a:t>
            </a:r>
            <a:endParaRPr lang="en-US" sz="1400" dirty="0"/>
          </a:p>
        </p:txBody>
      </p:sp>
      <p:sp>
        <p:nvSpPr>
          <p:cNvPr id="13" name="Module Card 3"/>
          <p:cNvSpPr/>
          <p:nvPr/>
        </p:nvSpPr>
        <p:spPr>
          <a:xfrm>
            <a:off x="6208776" y="1463040"/>
            <a:ext cx="2601468" cy="2240280"/>
          </a:xfrm>
          <a:prstGeom prst="roundRect">
            <a:avLst>
              <a:gd name="adj" fmla="val 4082"/>
            </a:avLst>
          </a:prstGeom>
          <a:solidFill>
            <a:schemeClr val="bg2"/>
          </a:solidFill>
          <a:ln/>
        </p:spPr>
      </p:sp>
      <p:sp>
        <p:nvSpPr>
          <p:cNvPr id="14" name="Module Number 3"/>
          <p:cNvSpPr txBox="1"/>
          <p:nvPr/>
        </p:nvSpPr>
        <p:spPr>
          <a:xfrm>
            <a:off x="6437376" y="169164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pic>
        <p:nvPicPr>
          <p:cNvPr id="15" name="Road Condition icon" descr="Road Condition icon">    </p:cNvPr>
          <p:cNvPicPr>
            <a:picLocks noChangeAspect="1"/>
          </p:cNvPicPr>
          <p:nvPr/>
        </p:nvPicPr>
        <p:blipFill>
          <a:blip r:embed="rId3"/>
          <a:stretch>
            <a:fillRect/>
          </a:stretch>
        </p:blipFill>
        <p:spPr>
          <a:xfrm>
            <a:off x="8170164" y="1737360"/>
            <a:ext cx="411480" cy="411480"/>
          </a:xfrm>
          <a:prstGeom prst="rect">
            <a:avLst/>
          </a:prstGeom>
        </p:spPr>
      </p:pic>
      <p:sp>
        <p:nvSpPr>
          <p:cNvPr id="16" name="Module Title 3"/>
          <p:cNvSpPr txBox="1"/>
          <p:nvPr/>
        </p:nvSpPr>
        <p:spPr>
          <a:xfrm>
            <a:off x="6437376" y="2359152"/>
            <a:ext cx="2144268" cy="502920"/>
          </a:xfrm>
          <a:prstGeom prst="rect">
            <a:avLst/>
          </a:prstGeom>
          <a:noFill/>
          <a:ln/>
        </p:spPr>
        <p:txBody>
          <a:bodyPr wrap="square" lIns="0" tIns="0" rIns="0" bIns="0" rtlCol="0" anchor="t"/>
          <a:lstStyle/>
          <a:p>
            <a:pPr indent="0" marL="0">
              <a:buNone/>
            </a:pPr>
            <a:r>
              <a:rPr lang="en-US" sz="1800" b="1" dirty="0">
                <a:solidFill>
                  <a:schemeClr val="tx2"/>
                </a:solidFill>
              </a:rPr>
              <a:t>Road Condition</a:t>
            </a:r>
            <a:endParaRPr lang="en-US" sz="1800" dirty="0"/>
          </a:p>
        </p:txBody>
      </p:sp>
      <p:sp>
        <p:nvSpPr>
          <p:cNvPr id="17" name="Module Text 3"/>
          <p:cNvSpPr txBox="1"/>
          <p:nvPr/>
        </p:nvSpPr>
        <p:spPr>
          <a:xfrm>
            <a:off x="6437376" y="2880360"/>
            <a:ext cx="2144268" cy="685800"/>
          </a:xfrm>
          <a:prstGeom prst="rect">
            <a:avLst/>
          </a:prstGeom>
          <a:noFill/>
          <a:ln/>
        </p:spPr>
        <p:txBody>
          <a:bodyPr wrap="square" lIns="0" tIns="0" rIns="0" bIns="0" rtlCol="0" anchor="t"/>
          <a:lstStyle/>
          <a:p>
            <a:pPr indent="0" marL="0">
              <a:buNone/>
            </a:pPr>
            <a:r>
              <a:rPr lang="en-US" sz="1400" dirty="0">
                <a:solidFill>
                  <a:schemeClr val="accent4"/>
                </a:solidFill>
              </a:rPr>
              <a:t>Shows road condition details and known issues.</a:t>
            </a:r>
            <a:endParaRPr lang="en-US" sz="1400" dirty="0"/>
          </a:p>
        </p:txBody>
      </p:sp>
      <p:sp>
        <p:nvSpPr>
          <p:cNvPr id="18" name="Module Card 4"/>
          <p:cNvSpPr/>
          <p:nvPr/>
        </p:nvSpPr>
        <p:spPr>
          <a:xfrm>
            <a:off x="9038844" y="1463040"/>
            <a:ext cx="2601468" cy="2240280"/>
          </a:xfrm>
          <a:prstGeom prst="roundRect">
            <a:avLst>
              <a:gd name="adj" fmla="val 4082"/>
            </a:avLst>
          </a:prstGeom>
          <a:solidFill>
            <a:schemeClr val="bg2"/>
          </a:solidFill>
          <a:ln/>
        </p:spPr>
      </p:sp>
      <p:sp>
        <p:nvSpPr>
          <p:cNvPr id="19" name="Module Number 4"/>
          <p:cNvSpPr txBox="1"/>
          <p:nvPr/>
        </p:nvSpPr>
        <p:spPr>
          <a:xfrm>
            <a:off x="9267444" y="169164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pic>
        <p:nvPicPr>
          <p:cNvPr id="20" name="Route Management icon" descr="Route Management icon">    </p:cNvPr>
          <p:cNvPicPr>
            <a:picLocks noChangeAspect="1"/>
          </p:cNvPicPr>
          <p:nvPr/>
        </p:nvPicPr>
        <p:blipFill>
          <a:blip r:embed="rId4"/>
          <a:stretch>
            <a:fillRect/>
          </a:stretch>
        </p:blipFill>
        <p:spPr>
          <a:xfrm>
            <a:off x="11000232" y="1737360"/>
            <a:ext cx="411480" cy="411480"/>
          </a:xfrm>
          <a:prstGeom prst="rect">
            <a:avLst/>
          </a:prstGeom>
        </p:spPr>
      </p:pic>
      <p:sp>
        <p:nvSpPr>
          <p:cNvPr id="21" name="Module Title 4"/>
          <p:cNvSpPr txBox="1"/>
          <p:nvPr/>
        </p:nvSpPr>
        <p:spPr>
          <a:xfrm>
            <a:off x="9267444" y="2359152"/>
            <a:ext cx="2144268" cy="502920"/>
          </a:xfrm>
          <a:prstGeom prst="rect">
            <a:avLst/>
          </a:prstGeom>
          <a:noFill/>
          <a:ln/>
        </p:spPr>
        <p:txBody>
          <a:bodyPr wrap="square" lIns="0" tIns="0" rIns="0" bIns="0" rtlCol="0" anchor="t"/>
          <a:lstStyle/>
          <a:p>
            <a:pPr indent="0" marL="0">
              <a:buNone/>
            </a:pPr>
            <a:r>
              <a:rPr lang="en-US" sz="1800" b="1" dirty="0">
                <a:solidFill>
                  <a:schemeClr val="tx2"/>
                </a:solidFill>
              </a:rPr>
              <a:t>Route Management</a:t>
            </a:r>
            <a:endParaRPr lang="en-US" sz="1800" dirty="0"/>
          </a:p>
        </p:txBody>
      </p:sp>
      <p:sp>
        <p:nvSpPr>
          <p:cNvPr id="22" name="Module Text 4"/>
          <p:cNvSpPr txBox="1"/>
          <p:nvPr/>
        </p:nvSpPr>
        <p:spPr>
          <a:xfrm>
            <a:off x="9267444" y="2880360"/>
            <a:ext cx="2144268" cy="685800"/>
          </a:xfrm>
          <a:prstGeom prst="rect">
            <a:avLst/>
          </a:prstGeom>
          <a:noFill/>
          <a:ln/>
        </p:spPr>
        <p:txBody>
          <a:bodyPr wrap="square" lIns="0" tIns="0" rIns="0" bIns="0" rtlCol="0" anchor="t"/>
          <a:lstStyle/>
          <a:p>
            <a:pPr indent="0" marL="0">
              <a:buNone/>
            </a:pPr>
            <a:r>
              <a:rPr lang="en-US" sz="1400" dirty="0">
                <a:solidFill>
                  <a:schemeClr val="accent4"/>
                </a:solidFill>
              </a:rPr>
              <a:t>Organizes route information for route awareness.</a:t>
            </a:r>
            <a:endParaRPr lang="en-US" sz="1400" dirty="0"/>
          </a:p>
        </p:txBody>
      </p:sp>
      <p:sp>
        <p:nvSpPr>
          <p:cNvPr id="23" name="Module Card 5"/>
          <p:cNvSpPr/>
          <p:nvPr/>
        </p:nvSpPr>
        <p:spPr>
          <a:xfrm>
            <a:off x="548640" y="3977640"/>
            <a:ext cx="2601468" cy="2240280"/>
          </a:xfrm>
          <a:prstGeom prst="roundRect">
            <a:avLst>
              <a:gd name="adj" fmla="val 4082"/>
            </a:avLst>
          </a:prstGeom>
          <a:solidFill>
            <a:schemeClr val="bg2"/>
          </a:solidFill>
          <a:ln/>
        </p:spPr>
      </p:sp>
      <p:sp>
        <p:nvSpPr>
          <p:cNvPr id="24" name="Module Number 5"/>
          <p:cNvSpPr txBox="1"/>
          <p:nvPr/>
        </p:nvSpPr>
        <p:spPr>
          <a:xfrm>
            <a:off x="777240" y="420624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pic>
        <p:nvPicPr>
          <p:cNvPr id="25" name="Accident Reporting icon" descr="Accident Reporting icon">    </p:cNvPr>
          <p:cNvPicPr>
            <a:picLocks noChangeAspect="1"/>
          </p:cNvPicPr>
          <p:nvPr/>
        </p:nvPicPr>
        <p:blipFill>
          <a:blip r:embed="rId5"/>
          <a:stretch>
            <a:fillRect/>
          </a:stretch>
        </p:blipFill>
        <p:spPr>
          <a:xfrm>
            <a:off x="2510028" y="4251960"/>
            <a:ext cx="411480" cy="411480"/>
          </a:xfrm>
          <a:prstGeom prst="rect">
            <a:avLst/>
          </a:prstGeom>
        </p:spPr>
      </p:pic>
      <p:sp>
        <p:nvSpPr>
          <p:cNvPr id="26" name="Module Title 5"/>
          <p:cNvSpPr txBox="1"/>
          <p:nvPr/>
        </p:nvSpPr>
        <p:spPr>
          <a:xfrm>
            <a:off x="777240" y="4873752"/>
            <a:ext cx="2144268" cy="502920"/>
          </a:xfrm>
          <a:prstGeom prst="rect">
            <a:avLst/>
          </a:prstGeom>
          <a:noFill/>
          <a:ln/>
        </p:spPr>
        <p:txBody>
          <a:bodyPr wrap="square" lIns="0" tIns="0" rIns="0" bIns="0" rtlCol="0" anchor="t"/>
          <a:lstStyle/>
          <a:p>
            <a:pPr indent="0" marL="0">
              <a:buNone/>
            </a:pPr>
            <a:r>
              <a:rPr lang="en-US" sz="1800" b="1" dirty="0">
                <a:solidFill>
                  <a:schemeClr val="tx2"/>
                </a:solidFill>
              </a:rPr>
              <a:t>Accident Reporting</a:t>
            </a:r>
            <a:endParaRPr lang="en-US" sz="1800" dirty="0"/>
          </a:p>
        </p:txBody>
      </p:sp>
      <p:sp>
        <p:nvSpPr>
          <p:cNvPr id="27" name="Module Text 5"/>
          <p:cNvSpPr txBox="1"/>
          <p:nvPr/>
        </p:nvSpPr>
        <p:spPr>
          <a:xfrm>
            <a:off x="777240" y="5394960"/>
            <a:ext cx="2144268" cy="685800"/>
          </a:xfrm>
          <a:prstGeom prst="rect">
            <a:avLst/>
          </a:prstGeom>
          <a:noFill/>
          <a:ln/>
        </p:spPr>
        <p:txBody>
          <a:bodyPr wrap="square" lIns="0" tIns="0" rIns="0" bIns="0" rtlCol="0" anchor="t"/>
          <a:lstStyle/>
          <a:p>
            <a:pPr indent="0" marL="0">
              <a:buNone/>
            </a:pPr>
            <a:r>
              <a:rPr lang="en-US" sz="1400" dirty="0">
                <a:solidFill>
                  <a:schemeClr val="accent4"/>
                </a:solidFill>
              </a:rPr>
              <a:t>Form-based reporting of road accidents.</a:t>
            </a:r>
            <a:endParaRPr lang="en-US" sz="1400" dirty="0"/>
          </a:p>
        </p:txBody>
      </p:sp>
      <p:sp>
        <p:nvSpPr>
          <p:cNvPr id="28" name="Module Card 6"/>
          <p:cNvSpPr/>
          <p:nvPr/>
        </p:nvSpPr>
        <p:spPr>
          <a:xfrm>
            <a:off x="3378708" y="3977640"/>
            <a:ext cx="2601468" cy="2240280"/>
          </a:xfrm>
          <a:prstGeom prst="roundRect">
            <a:avLst>
              <a:gd name="adj" fmla="val 4082"/>
            </a:avLst>
          </a:prstGeom>
          <a:solidFill>
            <a:schemeClr val="bg2"/>
          </a:solidFill>
          <a:ln/>
        </p:spPr>
      </p:sp>
      <p:sp>
        <p:nvSpPr>
          <p:cNvPr id="29" name="Module Number 6"/>
          <p:cNvSpPr txBox="1"/>
          <p:nvPr/>
        </p:nvSpPr>
        <p:spPr>
          <a:xfrm>
            <a:off x="3607308" y="420624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pic>
        <p:nvPicPr>
          <p:cNvPr id="30" name="Complaint &amp; Feedback icon" descr="Complaint &amp; Feedback icon">    </p:cNvPr>
          <p:cNvPicPr>
            <a:picLocks noChangeAspect="1"/>
          </p:cNvPicPr>
          <p:nvPr/>
        </p:nvPicPr>
        <p:blipFill>
          <a:blip r:embed="rId6"/>
          <a:stretch>
            <a:fillRect/>
          </a:stretch>
        </p:blipFill>
        <p:spPr>
          <a:xfrm>
            <a:off x="5340096" y="4251960"/>
            <a:ext cx="411480" cy="411480"/>
          </a:xfrm>
          <a:prstGeom prst="rect">
            <a:avLst/>
          </a:prstGeom>
        </p:spPr>
      </p:pic>
      <p:sp>
        <p:nvSpPr>
          <p:cNvPr id="31" name="Module Title 6"/>
          <p:cNvSpPr txBox="1"/>
          <p:nvPr/>
        </p:nvSpPr>
        <p:spPr>
          <a:xfrm>
            <a:off x="3607308" y="4873752"/>
            <a:ext cx="2144268" cy="502920"/>
          </a:xfrm>
          <a:prstGeom prst="rect">
            <a:avLst/>
          </a:prstGeom>
          <a:noFill/>
          <a:ln/>
        </p:spPr>
        <p:txBody>
          <a:bodyPr wrap="square" lIns="0" tIns="0" rIns="0" bIns="0" rtlCol="0" anchor="t"/>
          <a:lstStyle/>
          <a:p>
            <a:pPr indent="0" marL="0">
              <a:buNone/>
            </a:pPr>
            <a:r>
              <a:rPr lang="en-US" sz="1800" b="1" dirty="0">
                <a:solidFill>
                  <a:schemeClr val="tx2"/>
                </a:solidFill>
              </a:rPr>
              <a:t>Complaint &amp; Feedback</a:t>
            </a:r>
            <a:endParaRPr lang="en-US" sz="1800" dirty="0"/>
          </a:p>
        </p:txBody>
      </p:sp>
      <p:sp>
        <p:nvSpPr>
          <p:cNvPr id="32" name="Module Text 6"/>
          <p:cNvSpPr txBox="1"/>
          <p:nvPr/>
        </p:nvSpPr>
        <p:spPr>
          <a:xfrm>
            <a:off x="3607308" y="5394960"/>
            <a:ext cx="2144268" cy="685800"/>
          </a:xfrm>
          <a:prstGeom prst="rect">
            <a:avLst/>
          </a:prstGeom>
          <a:noFill/>
          <a:ln/>
        </p:spPr>
        <p:txBody>
          <a:bodyPr wrap="square" lIns="0" tIns="0" rIns="0" bIns="0" rtlCol="0" anchor="t"/>
          <a:lstStyle/>
          <a:p>
            <a:pPr indent="0" marL="0">
              <a:buNone/>
            </a:pPr>
            <a:r>
              <a:rPr lang="en-US" sz="1400" dirty="0">
                <a:solidFill>
                  <a:schemeClr val="accent4"/>
                </a:solidFill>
              </a:rPr>
              <a:t>Collects road-related complaints and feedback.</a:t>
            </a:r>
            <a:endParaRPr lang="en-US" sz="1400" dirty="0"/>
          </a:p>
        </p:txBody>
      </p:sp>
      <p:sp>
        <p:nvSpPr>
          <p:cNvPr id="33" name="Module Card 7"/>
          <p:cNvSpPr/>
          <p:nvPr/>
        </p:nvSpPr>
        <p:spPr>
          <a:xfrm>
            <a:off x="6208776" y="3977640"/>
            <a:ext cx="2601468" cy="2240280"/>
          </a:xfrm>
          <a:prstGeom prst="roundRect">
            <a:avLst>
              <a:gd name="adj" fmla="val 4082"/>
            </a:avLst>
          </a:prstGeom>
          <a:solidFill>
            <a:schemeClr val="bg2"/>
          </a:solidFill>
          <a:ln/>
        </p:spPr>
      </p:sp>
      <p:sp>
        <p:nvSpPr>
          <p:cNvPr id="34" name="Module Number 7"/>
          <p:cNvSpPr txBox="1"/>
          <p:nvPr/>
        </p:nvSpPr>
        <p:spPr>
          <a:xfrm>
            <a:off x="6437376" y="420624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pic>
        <p:nvPicPr>
          <p:cNvPr id="35" name="Emergency Services icon" descr="Emergency Services icon">    </p:cNvPr>
          <p:cNvPicPr>
            <a:picLocks noChangeAspect="1"/>
          </p:cNvPicPr>
          <p:nvPr/>
        </p:nvPicPr>
        <p:blipFill>
          <a:blip r:embed="rId7"/>
          <a:stretch>
            <a:fillRect/>
          </a:stretch>
        </p:blipFill>
        <p:spPr>
          <a:xfrm>
            <a:off x="8170164" y="4251960"/>
            <a:ext cx="411480" cy="411480"/>
          </a:xfrm>
          <a:prstGeom prst="rect">
            <a:avLst/>
          </a:prstGeom>
        </p:spPr>
      </p:pic>
      <p:sp>
        <p:nvSpPr>
          <p:cNvPr id="36" name="Module Title 7"/>
          <p:cNvSpPr txBox="1"/>
          <p:nvPr/>
        </p:nvSpPr>
        <p:spPr>
          <a:xfrm>
            <a:off x="6437376" y="4873752"/>
            <a:ext cx="2144268" cy="502920"/>
          </a:xfrm>
          <a:prstGeom prst="rect">
            <a:avLst/>
          </a:prstGeom>
          <a:noFill/>
          <a:ln/>
        </p:spPr>
        <p:txBody>
          <a:bodyPr wrap="square" lIns="0" tIns="0" rIns="0" bIns="0" rtlCol="0" anchor="t"/>
          <a:lstStyle/>
          <a:p>
            <a:pPr indent="0" marL="0">
              <a:buNone/>
            </a:pPr>
            <a:r>
              <a:rPr lang="en-US" sz="1800" b="1" dirty="0">
                <a:solidFill>
                  <a:schemeClr val="tx2"/>
                </a:solidFill>
              </a:rPr>
              <a:t>Emergency Services</a:t>
            </a:r>
            <a:endParaRPr lang="en-US" sz="1800" dirty="0"/>
          </a:p>
        </p:txBody>
      </p:sp>
      <p:sp>
        <p:nvSpPr>
          <p:cNvPr id="37" name="Module Text 7"/>
          <p:cNvSpPr txBox="1"/>
          <p:nvPr/>
        </p:nvSpPr>
        <p:spPr>
          <a:xfrm>
            <a:off x="6437376" y="5394960"/>
            <a:ext cx="2144268" cy="685800"/>
          </a:xfrm>
          <a:prstGeom prst="rect">
            <a:avLst/>
          </a:prstGeom>
          <a:noFill/>
          <a:ln/>
        </p:spPr>
        <p:txBody>
          <a:bodyPr wrap="square" lIns="0" tIns="0" rIns="0" bIns="0" rtlCol="0" anchor="t"/>
          <a:lstStyle/>
          <a:p>
            <a:pPr indent="0" marL="0">
              <a:buNone/>
            </a:pPr>
            <a:r>
              <a:rPr lang="en-US" sz="1400" dirty="0">
                <a:solidFill>
                  <a:schemeClr val="accent4"/>
                </a:solidFill>
              </a:rPr>
              <a:t>Quick access to emergency contact numbers.</a:t>
            </a:r>
            <a:endParaRPr lang="en-US" sz="1400" dirty="0"/>
          </a:p>
        </p:txBody>
      </p:sp>
      <p:sp>
        <p:nvSpPr>
          <p:cNvPr id="38" name="Module Card 8"/>
          <p:cNvSpPr/>
          <p:nvPr/>
        </p:nvSpPr>
        <p:spPr>
          <a:xfrm>
            <a:off x="9038844" y="3977640"/>
            <a:ext cx="2601468" cy="2240280"/>
          </a:xfrm>
          <a:prstGeom prst="roundRect">
            <a:avLst>
              <a:gd name="adj" fmla="val 4082"/>
            </a:avLst>
          </a:prstGeom>
          <a:solidFill>
            <a:schemeClr val="bg2"/>
          </a:solidFill>
          <a:ln/>
        </p:spPr>
      </p:sp>
      <p:sp>
        <p:nvSpPr>
          <p:cNvPr id="39" name="Module Number 8"/>
          <p:cNvSpPr txBox="1"/>
          <p:nvPr/>
        </p:nvSpPr>
        <p:spPr>
          <a:xfrm>
            <a:off x="9267444" y="420624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pic>
        <p:nvPicPr>
          <p:cNvPr id="40" name="Contact Us icon" descr="Contact Us icon">    </p:cNvPr>
          <p:cNvPicPr>
            <a:picLocks noChangeAspect="1"/>
          </p:cNvPicPr>
          <p:nvPr/>
        </p:nvPicPr>
        <p:blipFill>
          <a:blip r:embed="rId8"/>
          <a:stretch>
            <a:fillRect/>
          </a:stretch>
        </p:blipFill>
        <p:spPr>
          <a:xfrm>
            <a:off x="11000232" y="4251960"/>
            <a:ext cx="411480" cy="411480"/>
          </a:xfrm>
          <a:prstGeom prst="rect">
            <a:avLst/>
          </a:prstGeom>
        </p:spPr>
      </p:pic>
      <p:sp>
        <p:nvSpPr>
          <p:cNvPr id="41" name="Module Title 8"/>
          <p:cNvSpPr txBox="1"/>
          <p:nvPr/>
        </p:nvSpPr>
        <p:spPr>
          <a:xfrm>
            <a:off x="9267444" y="4873752"/>
            <a:ext cx="2144268" cy="502920"/>
          </a:xfrm>
          <a:prstGeom prst="rect">
            <a:avLst/>
          </a:prstGeom>
          <a:noFill/>
          <a:ln/>
        </p:spPr>
        <p:txBody>
          <a:bodyPr wrap="square" lIns="0" tIns="0" rIns="0" bIns="0" rtlCol="0" anchor="t"/>
          <a:lstStyle/>
          <a:p>
            <a:pPr indent="0" marL="0">
              <a:buNone/>
            </a:pPr>
            <a:r>
              <a:rPr lang="en-US" sz="1800" b="1" dirty="0">
                <a:solidFill>
                  <a:schemeClr val="tx2"/>
                </a:solidFill>
              </a:rPr>
              <a:t>Contact Us</a:t>
            </a:r>
            <a:endParaRPr lang="en-US" sz="1800" dirty="0"/>
          </a:p>
        </p:txBody>
      </p:sp>
      <p:sp>
        <p:nvSpPr>
          <p:cNvPr id="42" name="Module Text 8"/>
          <p:cNvSpPr txBox="1"/>
          <p:nvPr/>
        </p:nvSpPr>
        <p:spPr>
          <a:xfrm>
            <a:off x="9267444" y="5394960"/>
            <a:ext cx="2144268" cy="685800"/>
          </a:xfrm>
          <a:prstGeom prst="rect">
            <a:avLst/>
          </a:prstGeom>
          <a:noFill/>
          <a:ln/>
        </p:spPr>
        <p:txBody>
          <a:bodyPr wrap="square" lIns="0" tIns="0" rIns="0" bIns="0" rtlCol="0" anchor="t"/>
          <a:lstStyle/>
          <a:p>
            <a:pPr indent="0" marL="0">
              <a:buNone/>
            </a:pPr>
            <a:r>
              <a:rPr lang="en-US" sz="1400" dirty="0">
                <a:solidFill>
                  <a:schemeClr val="accent4"/>
                </a:solidFill>
              </a:rPr>
              <a:t>Contact and support information.</a:t>
            </a:r>
            <a:endParaRPr lang="en-US" sz="1400" dirty="0"/>
          </a:p>
        </p:txBody>
      </p:sp>
      <p:sp>
        <p:nvSpPr>
          <p:cNvPr id="25" name="Slide Number Placeholder 0"/>
          <p:cNvSpPr>
            <a:spLocks noGrp="1"/>
          </p:cNvSpPr>
          <p:nvPr>
            <p:ph type="sldNum" sz="quarter" idx="4294967295"/>
          </p:nvPr>
        </p:nvSpPr>
        <p:spPr>
          <a:xfrm>
            <a:off x="10908792"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Technologies</a:t>
            </a:r>
            <a:endParaRPr lang="en-US" sz="3600" dirty="0"/>
          </a:p>
        </p:txBody>
      </p:sp>
      <p:sp>
        <p:nvSpPr>
          <p:cNvPr id="3" name="Implemented Header"/>
          <p:cNvSpPr txBox="1"/>
          <p:nvPr/>
        </p:nvSpPr>
        <p:spPr>
          <a:xfrm>
            <a:off x="548640" y="1417320"/>
            <a:ext cx="2011680" cy="365760"/>
          </a:xfrm>
          <a:prstGeom prst="roundRect">
            <a:avLst>
              <a:gd name="adj" fmla="val 37500"/>
            </a:avLst>
          </a:prstGeom>
          <a:solidFill>
            <a:schemeClr val="accent1"/>
          </a:solidFill>
          <a:ln/>
        </p:spPr>
        <p:txBody>
          <a:bodyPr wrap="square" lIns="0" tIns="0" rIns="0" bIns="0" rtlCol="0" anchor="ctr"/>
          <a:lstStyle/>
          <a:p>
            <a:pPr algn="ctr" indent="0" marL="0">
              <a:buNone/>
            </a:pPr>
            <a:r>
              <a:rPr lang="en-US" sz="1200" b="1" dirty="0">
                <a:solidFill>
                  <a:schemeClr val="bg1"/>
                </a:solidFill>
              </a:rPr>
              <a:t>IMPLEMENTED</a:t>
            </a:r>
            <a:endParaRPr lang="en-US" sz="1200" dirty="0"/>
          </a:p>
        </p:txBody>
      </p:sp>
      <p:sp>
        <p:nvSpPr>
          <p:cNvPr id="4" name="Planned Header"/>
          <p:cNvSpPr txBox="1"/>
          <p:nvPr/>
        </p:nvSpPr>
        <p:spPr>
          <a:xfrm>
            <a:off x="5760720" y="1417320"/>
            <a:ext cx="4206240" cy="365760"/>
          </a:xfrm>
          <a:prstGeom prst="roundRect">
            <a:avLst>
              <a:gd name="adj" fmla="val 37500"/>
            </a:avLst>
          </a:prstGeom>
          <a:solidFill>
            <a:schemeClr val="bg1"/>
          </a:solidFill>
          <a:ln w="15875">
            <a:solidFill>
              <a:schemeClr val="accent2"/>
            </a:solidFill>
            <a:prstDash val="dash"/>
          </a:ln>
        </p:spPr>
        <p:txBody>
          <a:bodyPr wrap="square" lIns="0" tIns="0" rIns="0" bIns="0" rtlCol="0" anchor="ctr"/>
          <a:lstStyle/>
          <a:p>
            <a:pPr algn="ctr" indent="0" marL="0">
              <a:buNone/>
            </a:pPr>
            <a:r>
              <a:rPr lang="en-US" sz="1200" b="1" dirty="0">
                <a:solidFill>
                  <a:schemeClr val="accent2"/>
                </a:solidFill>
              </a:rPr>
              <a:t>POTENTIAL / PLANNED (not yet confirmed)</a:t>
            </a:r>
            <a:endParaRPr lang="en-US" sz="1200" dirty="0"/>
          </a:p>
        </p:txBody>
      </p:sp>
      <p:sp>
        <p:nvSpPr>
          <p:cNvPr id="5" name="Implemented Card 1"/>
          <p:cNvSpPr/>
          <p:nvPr/>
        </p:nvSpPr>
        <p:spPr>
          <a:xfrm>
            <a:off x="548640" y="2011680"/>
            <a:ext cx="4937760" cy="1143000"/>
          </a:xfrm>
          <a:prstGeom prst="roundRect">
            <a:avLst>
              <a:gd name="adj" fmla="val 8000"/>
            </a:avLst>
          </a:prstGeom>
          <a:solidFill>
            <a:schemeClr val="accent3"/>
          </a:solidFill>
          <a:ln/>
        </p:spPr>
      </p:sp>
      <p:sp>
        <p:nvSpPr>
          <p:cNvPr id="6" name="Implemented Icon Circle 1"/>
          <p:cNvSpPr/>
          <p:nvPr/>
        </p:nvSpPr>
        <p:spPr>
          <a:xfrm>
            <a:off x="822960" y="2286000"/>
            <a:ext cx="594360" cy="594360"/>
          </a:xfrm>
          <a:prstGeom prst="ellipse">
            <a:avLst/>
          </a:prstGeom>
          <a:solidFill>
            <a:schemeClr val="accent1"/>
          </a:solidFill>
          <a:ln/>
        </p:spPr>
      </p:sp>
      <p:pic>
        <p:nvPicPr>
          <p:cNvPr id="7" name="HTML5 icon" descr="HTML5 icon">    </p:cNvPr>
          <p:cNvPicPr>
            <a:picLocks noChangeAspect="1"/>
          </p:cNvPicPr>
          <p:nvPr/>
        </p:nvPicPr>
        <p:blipFill>
          <a:blip r:embed="rId1"/>
          <a:stretch>
            <a:fillRect/>
          </a:stretch>
        </p:blipFill>
        <p:spPr>
          <a:xfrm>
            <a:off x="960120" y="2423160"/>
            <a:ext cx="320040" cy="320040"/>
          </a:xfrm>
          <a:prstGeom prst="rect">
            <a:avLst/>
          </a:prstGeom>
        </p:spPr>
      </p:pic>
      <p:sp>
        <p:nvSpPr>
          <p:cNvPr id="8" name="Implemented Name 1"/>
          <p:cNvSpPr txBox="1"/>
          <p:nvPr/>
        </p:nvSpPr>
        <p:spPr>
          <a:xfrm>
            <a:off x="1645920" y="2286000"/>
            <a:ext cx="3657600" cy="274320"/>
          </a:xfrm>
          <a:prstGeom prst="rect">
            <a:avLst/>
          </a:prstGeom>
          <a:noFill/>
          <a:ln/>
        </p:spPr>
        <p:txBody>
          <a:bodyPr wrap="square" lIns="0" tIns="0" rIns="0" bIns="0" rtlCol="0" anchor="t"/>
          <a:lstStyle/>
          <a:p>
            <a:pPr indent="0" marL="0">
              <a:buNone/>
            </a:pPr>
            <a:r>
              <a:rPr lang="en-US" sz="1800" b="1" dirty="0">
                <a:solidFill>
                  <a:schemeClr val="tx2"/>
                </a:solidFill>
              </a:rPr>
              <a:t>HTML5</a:t>
            </a:r>
            <a:endParaRPr lang="en-US" sz="1800" dirty="0"/>
          </a:p>
        </p:txBody>
      </p:sp>
      <p:sp>
        <p:nvSpPr>
          <p:cNvPr id="9" name="Implemented Role 1"/>
          <p:cNvSpPr txBox="1"/>
          <p:nvPr/>
        </p:nvSpPr>
        <p:spPr>
          <a:xfrm>
            <a:off x="1645920" y="2615184"/>
            <a:ext cx="3657600" cy="274320"/>
          </a:xfrm>
          <a:prstGeom prst="rect">
            <a:avLst/>
          </a:prstGeom>
          <a:noFill/>
          <a:ln/>
        </p:spPr>
        <p:txBody>
          <a:bodyPr wrap="square" lIns="0" tIns="0" rIns="0" bIns="0" rtlCol="0" anchor="t"/>
          <a:lstStyle/>
          <a:p>
            <a:pPr indent="0" marL="0">
              <a:buNone/>
            </a:pPr>
            <a:r>
              <a:rPr lang="en-US" sz="1400" dirty="0">
                <a:solidFill>
                  <a:schemeClr val="tx1"/>
                </a:solidFill>
              </a:rPr>
              <a:t>Page structure and content of all modules.</a:t>
            </a:r>
            <a:endParaRPr lang="en-US" sz="1400" dirty="0"/>
          </a:p>
        </p:txBody>
      </p:sp>
      <p:sp>
        <p:nvSpPr>
          <p:cNvPr id="10" name="Implemented Card 2"/>
          <p:cNvSpPr/>
          <p:nvPr/>
        </p:nvSpPr>
        <p:spPr>
          <a:xfrm>
            <a:off x="548640" y="3355848"/>
            <a:ext cx="4937760" cy="1143000"/>
          </a:xfrm>
          <a:prstGeom prst="roundRect">
            <a:avLst>
              <a:gd name="adj" fmla="val 8000"/>
            </a:avLst>
          </a:prstGeom>
          <a:solidFill>
            <a:schemeClr val="accent3"/>
          </a:solidFill>
          <a:ln/>
        </p:spPr>
      </p:sp>
      <p:sp>
        <p:nvSpPr>
          <p:cNvPr id="11" name="Implemented Icon Circle 2"/>
          <p:cNvSpPr/>
          <p:nvPr/>
        </p:nvSpPr>
        <p:spPr>
          <a:xfrm>
            <a:off x="822960" y="3630168"/>
            <a:ext cx="594360" cy="594360"/>
          </a:xfrm>
          <a:prstGeom prst="ellipse">
            <a:avLst/>
          </a:prstGeom>
          <a:solidFill>
            <a:schemeClr val="accent1"/>
          </a:solidFill>
          <a:ln/>
        </p:spPr>
      </p:sp>
      <p:pic>
        <p:nvPicPr>
          <p:cNvPr id="12" name="CSS3 icon" descr="CSS3 icon">    </p:cNvPr>
          <p:cNvPicPr>
            <a:picLocks noChangeAspect="1"/>
          </p:cNvPicPr>
          <p:nvPr/>
        </p:nvPicPr>
        <p:blipFill>
          <a:blip r:embed="rId2"/>
          <a:stretch>
            <a:fillRect/>
          </a:stretch>
        </p:blipFill>
        <p:spPr>
          <a:xfrm>
            <a:off x="960120" y="3767328"/>
            <a:ext cx="320040" cy="320040"/>
          </a:xfrm>
          <a:prstGeom prst="rect">
            <a:avLst/>
          </a:prstGeom>
        </p:spPr>
      </p:pic>
      <p:sp>
        <p:nvSpPr>
          <p:cNvPr id="13" name="Implemented Name 2"/>
          <p:cNvSpPr txBox="1"/>
          <p:nvPr/>
        </p:nvSpPr>
        <p:spPr>
          <a:xfrm>
            <a:off x="1645920" y="3630168"/>
            <a:ext cx="3657600" cy="274320"/>
          </a:xfrm>
          <a:prstGeom prst="rect">
            <a:avLst/>
          </a:prstGeom>
          <a:noFill/>
          <a:ln/>
        </p:spPr>
        <p:txBody>
          <a:bodyPr wrap="square" lIns="0" tIns="0" rIns="0" bIns="0" rtlCol="0" anchor="t"/>
          <a:lstStyle/>
          <a:p>
            <a:pPr indent="0" marL="0">
              <a:buNone/>
            </a:pPr>
            <a:r>
              <a:rPr lang="en-US" sz="1800" b="1" dirty="0">
                <a:solidFill>
                  <a:schemeClr val="tx2"/>
                </a:solidFill>
              </a:rPr>
              <a:t>CSS3</a:t>
            </a:r>
            <a:endParaRPr lang="en-US" sz="1800" dirty="0"/>
          </a:p>
        </p:txBody>
      </p:sp>
      <p:sp>
        <p:nvSpPr>
          <p:cNvPr id="14" name="Implemented Role 2"/>
          <p:cNvSpPr txBox="1"/>
          <p:nvPr/>
        </p:nvSpPr>
        <p:spPr>
          <a:xfrm>
            <a:off x="1645920" y="3959352"/>
            <a:ext cx="3657600" cy="274320"/>
          </a:xfrm>
          <a:prstGeom prst="rect">
            <a:avLst/>
          </a:prstGeom>
          <a:noFill/>
          <a:ln/>
        </p:spPr>
        <p:txBody>
          <a:bodyPr wrap="square" lIns="0" tIns="0" rIns="0" bIns="0" rtlCol="0" anchor="t"/>
          <a:lstStyle/>
          <a:p>
            <a:pPr indent="0" marL="0">
              <a:buNone/>
            </a:pPr>
            <a:r>
              <a:rPr lang="en-US" sz="1400" dirty="0">
                <a:solidFill>
                  <a:schemeClr val="tx1"/>
                </a:solidFill>
              </a:rPr>
              <a:t>Styling, colors and page layout.</a:t>
            </a:r>
            <a:endParaRPr lang="en-US" sz="1400" dirty="0"/>
          </a:p>
        </p:txBody>
      </p:sp>
      <p:sp>
        <p:nvSpPr>
          <p:cNvPr id="15" name="Implemented Card 3"/>
          <p:cNvSpPr/>
          <p:nvPr/>
        </p:nvSpPr>
        <p:spPr>
          <a:xfrm>
            <a:off x="548640" y="4700016"/>
            <a:ext cx="4937760" cy="1143000"/>
          </a:xfrm>
          <a:prstGeom prst="roundRect">
            <a:avLst>
              <a:gd name="adj" fmla="val 8000"/>
            </a:avLst>
          </a:prstGeom>
          <a:solidFill>
            <a:schemeClr val="accent3"/>
          </a:solidFill>
          <a:ln/>
        </p:spPr>
      </p:sp>
      <p:sp>
        <p:nvSpPr>
          <p:cNvPr id="16" name="Implemented Icon Circle 3"/>
          <p:cNvSpPr/>
          <p:nvPr/>
        </p:nvSpPr>
        <p:spPr>
          <a:xfrm>
            <a:off x="822960" y="4974336"/>
            <a:ext cx="594360" cy="594360"/>
          </a:xfrm>
          <a:prstGeom prst="ellipse">
            <a:avLst/>
          </a:prstGeom>
          <a:solidFill>
            <a:schemeClr val="accent1"/>
          </a:solidFill>
          <a:ln/>
        </p:spPr>
      </p:sp>
      <p:pic>
        <p:nvPicPr>
          <p:cNvPr id="17" name="JavaScript icon" descr="JavaScript icon">    </p:cNvPr>
          <p:cNvPicPr>
            <a:picLocks noChangeAspect="1"/>
          </p:cNvPicPr>
          <p:nvPr/>
        </p:nvPicPr>
        <p:blipFill>
          <a:blip r:embed="rId3"/>
          <a:stretch>
            <a:fillRect/>
          </a:stretch>
        </p:blipFill>
        <p:spPr>
          <a:xfrm>
            <a:off x="960120" y="5111496"/>
            <a:ext cx="320040" cy="320040"/>
          </a:xfrm>
          <a:prstGeom prst="rect">
            <a:avLst/>
          </a:prstGeom>
        </p:spPr>
      </p:pic>
      <p:sp>
        <p:nvSpPr>
          <p:cNvPr id="18" name="Implemented Name 3"/>
          <p:cNvSpPr txBox="1"/>
          <p:nvPr/>
        </p:nvSpPr>
        <p:spPr>
          <a:xfrm>
            <a:off x="1645920" y="4974336"/>
            <a:ext cx="3657600" cy="274320"/>
          </a:xfrm>
          <a:prstGeom prst="rect">
            <a:avLst/>
          </a:prstGeom>
          <a:noFill/>
          <a:ln/>
        </p:spPr>
        <p:txBody>
          <a:bodyPr wrap="square" lIns="0" tIns="0" rIns="0" bIns="0" rtlCol="0" anchor="t"/>
          <a:lstStyle/>
          <a:p>
            <a:pPr indent="0" marL="0">
              <a:buNone/>
            </a:pPr>
            <a:r>
              <a:rPr lang="en-US" sz="1800" b="1" dirty="0">
                <a:solidFill>
                  <a:schemeClr val="tx2"/>
                </a:solidFill>
              </a:rPr>
              <a:t>JavaScript</a:t>
            </a:r>
            <a:endParaRPr lang="en-US" sz="1800" dirty="0"/>
          </a:p>
        </p:txBody>
      </p:sp>
      <p:sp>
        <p:nvSpPr>
          <p:cNvPr id="19" name="Implemented Role 3"/>
          <p:cNvSpPr txBox="1"/>
          <p:nvPr/>
        </p:nvSpPr>
        <p:spPr>
          <a:xfrm>
            <a:off x="1645920" y="5303520"/>
            <a:ext cx="3657600" cy="274320"/>
          </a:xfrm>
          <a:prstGeom prst="rect">
            <a:avLst/>
          </a:prstGeom>
          <a:noFill/>
          <a:ln/>
        </p:spPr>
        <p:txBody>
          <a:bodyPr wrap="square" lIns="0" tIns="0" rIns="0" bIns="0" rtlCol="0" anchor="t"/>
          <a:lstStyle/>
          <a:p>
            <a:pPr indent="0" marL="0">
              <a:buNone/>
            </a:pPr>
            <a:r>
              <a:rPr lang="en-US" sz="1400" dirty="0">
                <a:solidFill>
                  <a:schemeClr val="tx1"/>
                </a:solidFill>
              </a:rPr>
              <a:t>Client-side interactivity in the interface.</a:t>
            </a:r>
            <a:endParaRPr lang="en-US" sz="1400" dirty="0"/>
          </a:p>
        </p:txBody>
      </p:sp>
      <p:sp>
        <p:nvSpPr>
          <p:cNvPr id="20" name="Planned Card 1"/>
          <p:cNvSpPr/>
          <p:nvPr/>
        </p:nvSpPr>
        <p:spPr>
          <a:xfrm>
            <a:off x="5760720" y="2011680"/>
            <a:ext cx="2825496" cy="1801368"/>
          </a:xfrm>
          <a:prstGeom prst="roundRect">
            <a:avLst>
              <a:gd name="adj" fmla="val 5076"/>
            </a:avLst>
          </a:prstGeom>
          <a:solidFill>
            <a:schemeClr val="bg1"/>
          </a:solidFill>
          <a:ln w="19050">
            <a:solidFill>
              <a:schemeClr val="accent2"/>
            </a:solidFill>
            <a:prstDash val="dash"/>
          </a:ln>
        </p:spPr>
      </p:sp>
      <p:sp>
        <p:nvSpPr>
          <p:cNvPr id="21" name="Planned Icon Circle 1"/>
          <p:cNvSpPr/>
          <p:nvPr/>
        </p:nvSpPr>
        <p:spPr>
          <a:xfrm>
            <a:off x="5989320" y="2240280"/>
            <a:ext cx="548640" cy="548640"/>
          </a:xfrm>
          <a:prstGeom prst="ellipse">
            <a:avLst/>
          </a:prstGeom>
          <a:solidFill>
            <a:schemeClr val="tx2"/>
          </a:solidFill>
          <a:ln/>
        </p:spPr>
      </p:sp>
      <p:pic>
        <p:nvPicPr>
          <p:cNvPr id="22" name="Java / Spring Boot icon" descr="Java / Spring Boot icon">    </p:cNvPr>
          <p:cNvPicPr>
            <a:picLocks noChangeAspect="1"/>
          </p:cNvPicPr>
          <p:nvPr/>
        </p:nvPicPr>
        <p:blipFill>
          <a:blip r:embed="rId4"/>
          <a:stretch>
            <a:fillRect/>
          </a:stretch>
        </p:blipFill>
        <p:spPr>
          <a:xfrm>
            <a:off x="6126480" y="2377440"/>
            <a:ext cx="274320" cy="274320"/>
          </a:xfrm>
          <a:prstGeom prst="rect">
            <a:avLst/>
          </a:prstGeom>
        </p:spPr>
      </p:pic>
      <p:sp>
        <p:nvSpPr>
          <p:cNvPr id="23" name="Planned Name 1"/>
          <p:cNvSpPr txBox="1"/>
          <p:nvPr/>
        </p:nvSpPr>
        <p:spPr>
          <a:xfrm>
            <a:off x="5989320" y="2926080"/>
            <a:ext cx="2459736" cy="274320"/>
          </a:xfrm>
          <a:prstGeom prst="rect">
            <a:avLst/>
          </a:prstGeom>
          <a:noFill/>
          <a:ln/>
        </p:spPr>
        <p:txBody>
          <a:bodyPr wrap="square" lIns="0" tIns="0" rIns="0" bIns="0" rtlCol="0" anchor="t"/>
          <a:lstStyle/>
          <a:p>
            <a:pPr indent="0" marL="0">
              <a:buNone/>
            </a:pPr>
            <a:r>
              <a:rPr lang="en-US" sz="1600" b="1" dirty="0">
                <a:solidFill>
                  <a:schemeClr val="tx2"/>
                </a:solidFill>
              </a:rPr>
              <a:t>Java / Spring Boot</a:t>
            </a:r>
            <a:endParaRPr lang="en-US" sz="1600" dirty="0"/>
          </a:p>
        </p:txBody>
      </p:sp>
      <p:sp>
        <p:nvSpPr>
          <p:cNvPr id="24" name="Planned Role 1"/>
          <p:cNvSpPr txBox="1"/>
          <p:nvPr/>
        </p:nvSpPr>
        <p:spPr>
          <a:xfrm>
            <a:off x="5989320" y="3246120"/>
            <a:ext cx="2459736" cy="548640"/>
          </a:xfrm>
          <a:prstGeom prst="rect">
            <a:avLst/>
          </a:prstGeom>
          <a:noFill/>
          <a:ln/>
        </p:spPr>
        <p:txBody>
          <a:bodyPr wrap="square" lIns="0" tIns="0" rIns="0" bIns="0" rtlCol="0" anchor="t"/>
          <a:lstStyle/>
          <a:p>
            <a:pPr indent="0" marL="0">
              <a:buNone/>
            </a:pPr>
            <a:r>
              <a:rPr lang="en-US" sz="1400" dirty="0">
                <a:solidFill>
                  <a:schemeClr val="accent4"/>
                </a:solidFill>
              </a:rPr>
              <a:t>Backend application logic.</a:t>
            </a:r>
            <a:endParaRPr lang="en-US" sz="1400" dirty="0"/>
          </a:p>
        </p:txBody>
      </p:sp>
      <p:sp>
        <p:nvSpPr>
          <p:cNvPr id="25" name="Planned Card 2"/>
          <p:cNvSpPr/>
          <p:nvPr/>
        </p:nvSpPr>
        <p:spPr>
          <a:xfrm>
            <a:off x="8814816" y="2011680"/>
            <a:ext cx="2825496" cy="1801368"/>
          </a:xfrm>
          <a:prstGeom prst="roundRect">
            <a:avLst>
              <a:gd name="adj" fmla="val 5076"/>
            </a:avLst>
          </a:prstGeom>
          <a:solidFill>
            <a:schemeClr val="bg1"/>
          </a:solidFill>
          <a:ln w="19050">
            <a:solidFill>
              <a:schemeClr val="accent2"/>
            </a:solidFill>
            <a:prstDash val="dash"/>
          </a:ln>
        </p:spPr>
      </p:sp>
      <p:sp>
        <p:nvSpPr>
          <p:cNvPr id="26" name="Planned Icon Circle 2"/>
          <p:cNvSpPr/>
          <p:nvPr/>
        </p:nvSpPr>
        <p:spPr>
          <a:xfrm>
            <a:off x="9043416" y="2240280"/>
            <a:ext cx="548640" cy="548640"/>
          </a:xfrm>
          <a:prstGeom prst="ellipse">
            <a:avLst/>
          </a:prstGeom>
          <a:solidFill>
            <a:schemeClr val="tx2"/>
          </a:solidFill>
          <a:ln/>
        </p:spPr>
      </p:sp>
      <p:pic>
        <p:nvPicPr>
          <p:cNvPr id="27" name="MySQL icon" descr="MySQL icon">    </p:cNvPr>
          <p:cNvPicPr>
            <a:picLocks noChangeAspect="1"/>
          </p:cNvPicPr>
          <p:nvPr/>
        </p:nvPicPr>
        <p:blipFill>
          <a:blip r:embed="rId5"/>
          <a:stretch>
            <a:fillRect/>
          </a:stretch>
        </p:blipFill>
        <p:spPr>
          <a:xfrm>
            <a:off x="9180576" y="2377440"/>
            <a:ext cx="274320" cy="274320"/>
          </a:xfrm>
          <a:prstGeom prst="rect">
            <a:avLst/>
          </a:prstGeom>
        </p:spPr>
      </p:pic>
      <p:sp>
        <p:nvSpPr>
          <p:cNvPr id="28" name="Planned Name 2"/>
          <p:cNvSpPr txBox="1"/>
          <p:nvPr/>
        </p:nvSpPr>
        <p:spPr>
          <a:xfrm>
            <a:off x="9043416" y="2926080"/>
            <a:ext cx="2459736" cy="274320"/>
          </a:xfrm>
          <a:prstGeom prst="rect">
            <a:avLst/>
          </a:prstGeom>
          <a:noFill/>
          <a:ln/>
        </p:spPr>
        <p:txBody>
          <a:bodyPr wrap="square" lIns="0" tIns="0" rIns="0" bIns="0" rtlCol="0" anchor="t"/>
          <a:lstStyle/>
          <a:p>
            <a:pPr indent="0" marL="0">
              <a:buNone/>
            </a:pPr>
            <a:r>
              <a:rPr lang="en-US" sz="1600" b="1" dirty="0">
                <a:solidFill>
                  <a:schemeClr val="tx2"/>
                </a:solidFill>
              </a:rPr>
              <a:t>MySQL</a:t>
            </a:r>
            <a:endParaRPr lang="en-US" sz="1600" dirty="0"/>
          </a:p>
        </p:txBody>
      </p:sp>
      <p:sp>
        <p:nvSpPr>
          <p:cNvPr id="29" name="Planned Role 2"/>
          <p:cNvSpPr txBox="1"/>
          <p:nvPr/>
        </p:nvSpPr>
        <p:spPr>
          <a:xfrm>
            <a:off x="9043416" y="3246120"/>
            <a:ext cx="2459736" cy="548640"/>
          </a:xfrm>
          <a:prstGeom prst="rect">
            <a:avLst/>
          </a:prstGeom>
          <a:noFill/>
          <a:ln/>
        </p:spPr>
        <p:txBody>
          <a:bodyPr wrap="square" lIns="0" tIns="0" rIns="0" bIns="0" rtlCol="0" anchor="t"/>
          <a:lstStyle/>
          <a:p>
            <a:pPr indent="0" marL="0">
              <a:buNone/>
            </a:pPr>
            <a:r>
              <a:rPr lang="en-US" sz="1400" dirty="0">
                <a:solidFill>
                  <a:schemeClr val="accent4"/>
                </a:solidFill>
              </a:rPr>
              <a:t>Persistent storage of reports and data.</a:t>
            </a:r>
            <a:endParaRPr lang="en-US" sz="1400" dirty="0"/>
          </a:p>
        </p:txBody>
      </p:sp>
      <p:sp>
        <p:nvSpPr>
          <p:cNvPr id="30" name="Planned Card 3"/>
          <p:cNvSpPr/>
          <p:nvPr/>
        </p:nvSpPr>
        <p:spPr>
          <a:xfrm>
            <a:off x="5760720" y="4041648"/>
            <a:ext cx="2825496" cy="1801368"/>
          </a:xfrm>
          <a:prstGeom prst="roundRect">
            <a:avLst>
              <a:gd name="adj" fmla="val 5076"/>
            </a:avLst>
          </a:prstGeom>
          <a:solidFill>
            <a:schemeClr val="bg1"/>
          </a:solidFill>
          <a:ln w="19050">
            <a:solidFill>
              <a:schemeClr val="accent2"/>
            </a:solidFill>
            <a:prstDash val="dash"/>
          </a:ln>
        </p:spPr>
      </p:sp>
      <p:sp>
        <p:nvSpPr>
          <p:cNvPr id="31" name="Planned Icon Circle 3"/>
          <p:cNvSpPr/>
          <p:nvPr/>
        </p:nvSpPr>
        <p:spPr>
          <a:xfrm>
            <a:off x="5989320" y="4270248"/>
            <a:ext cx="548640" cy="548640"/>
          </a:xfrm>
          <a:prstGeom prst="ellipse">
            <a:avLst/>
          </a:prstGeom>
          <a:solidFill>
            <a:schemeClr val="tx2"/>
          </a:solidFill>
          <a:ln/>
        </p:spPr>
      </p:sp>
      <p:pic>
        <p:nvPicPr>
          <p:cNvPr id="32" name="REST API icon" descr="REST API icon">    </p:cNvPr>
          <p:cNvPicPr>
            <a:picLocks noChangeAspect="1"/>
          </p:cNvPicPr>
          <p:nvPr/>
        </p:nvPicPr>
        <p:blipFill>
          <a:blip r:embed="rId6"/>
          <a:stretch>
            <a:fillRect/>
          </a:stretch>
        </p:blipFill>
        <p:spPr>
          <a:xfrm>
            <a:off x="6126480" y="4407408"/>
            <a:ext cx="274320" cy="274320"/>
          </a:xfrm>
          <a:prstGeom prst="rect">
            <a:avLst/>
          </a:prstGeom>
        </p:spPr>
      </p:pic>
      <p:sp>
        <p:nvSpPr>
          <p:cNvPr id="33" name="Planned Name 3"/>
          <p:cNvSpPr txBox="1"/>
          <p:nvPr/>
        </p:nvSpPr>
        <p:spPr>
          <a:xfrm>
            <a:off x="5989320" y="4956048"/>
            <a:ext cx="2459736" cy="274320"/>
          </a:xfrm>
          <a:prstGeom prst="rect">
            <a:avLst/>
          </a:prstGeom>
          <a:noFill/>
          <a:ln/>
        </p:spPr>
        <p:txBody>
          <a:bodyPr wrap="square" lIns="0" tIns="0" rIns="0" bIns="0" rtlCol="0" anchor="t"/>
          <a:lstStyle/>
          <a:p>
            <a:pPr indent="0" marL="0">
              <a:buNone/>
            </a:pPr>
            <a:r>
              <a:rPr lang="en-US" sz="1600" b="1" dirty="0">
                <a:solidFill>
                  <a:schemeClr val="tx2"/>
                </a:solidFill>
              </a:rPr>
              <a:t>REST API</a:t>
            </a:r>
            <a:endParaRPr lang="en-US" sz="1600" dirty="0"/>
          </a:p>
        </p:txBody>
      </p:sp>
      <p:sp>
        <p:nvSpPr>
          <p:cNvPr id="34" name="Planned Role 3"/>
          <p:cNvSpPr txBox="1"/>
          <p:nvPr/>
        </p:nvSpPr>
        <p:spPr>
          <a:xfrm>
            <a:off x="5989320" y="5276088"/>
            <a:ext cx="2459736" cy="548640"/>
          </a:xfrm>
          <a:prstGeom prst="rect">
            <a:avLst/>
          </a:prstGeom>
          <a:noFill/>
          <a:ln/>
        </p:spPr>
        <p:txBody>
          <a:bodyPr wrap="square" lIns="0" tIns="0" rIns="0" bIns="0" rtlCol="0" anchor="t"/>
          <a:lstStyle/>
          <a:p>
            <a:pPr indent="0" marL="0">
              <a:buNone/>
            </a:pPr>
            <a:r>
              <a:rPr lang="en-US" sz="1400" dirty="0">
                <a:solidFill>
                  <a:schemeClr val="accent4"/>
                </a:solidFill>
              </a:rPr>
              <a:t>Communication between frontend and backend.</a:t>
            </a:r>
            <a:endParaRPr lang="en-US" sz="1400" dirty="0"/>
          </a:p>
        </p:txBody>
      </p:sp>
      <p:sp>
        <p:nvSpPr>
          <p:cNvPr id="35" name="Planned Card 4"/>
          <p:cNvSpPr/>
          <p:nvPr/>
        </p:nvSpPr>
        <p:spPr>
          <a:xfrm>
            <a:off x="8814816" y="4041648"/>
            <a:ext cx="2825496" cy="1801368"/>
          </a:xfrm>
          <a:prstGeom prst="roundRect">
            <a:avLst>
              <a:gd name="adj" fmla="val 5076"/>
            </a:avLst>
          </a:prstGeom>
          <a:solidFill>
            <a:schemeClr val="bg1"/>
          </a:solidFill>
          <a:ln w="19050">
            <a:solidFill>
              <a:schemeClr val="accent2"/>
            </a:solidFill>
            <a:prstDash val="dash"/>
          </a:ln>
        </p:spPr>
      </p:sp>
      <p:sp>
        <p:nvSpPr>
          <p:cNvPr id="36" name="Planned Icon Circle 4"/>
          <p:cNvSpPr/>
          <p:nvPr/>
        </p:nvSpPr>
        <p:spPr>
          <a:xfrm>
            <a:off x="9043416" y="4270248"/>
            <a:ext cx="548640" cy="548640"/>
          </a:xfrm>
          <a:prstGeom prst="ellipse">
            <a:avLst/>
          </a:prstGeom>
          <a:solidFill>
            <a:schemeClr val="tx2"/>
          </a:solidFill>
          <a:ln/>
        </p:spPr>
      </p:sp>
      <p:pic>
        <p:nvPicPr>
          <p:cNvPr id="37" name="Google Maps Platform icon" descr="Google Maps Platform icon">    </p:cNvPr>
          <p:cNvPicPr>
            <a:picLocks noChangeAspect="1"/>
          </p:cNvPicPr>
          <p:nvPr/>
        </p:nvPicPr>
        <p:blipFill>
          <a:blip r:embed="rId7"/>
          <a:stretch>
            <a:fillRect/>
          </a:stretch>
        </p:blipFill>
        <p:spPr>
          <a:xfrm>
            <a:off x="9180576" y="4407408"/>
            <a:ext cx="274320" cy="274320"/>
          </a:xfrm>
          <a:prstGeom prst="rect">
            <a:avLst/>
          </a:prstGeom>
        </p:spPr>
      </p:pic>
      <p:sp>
        <p:nvSpPr>
          <p:cNvPr id="38" name="Planned Name 4"/>
          <p:cNvSpPr txBox="1"/>
          <p:nvPr/>
        </p:nvSpPr>
        <p:spPr>
          <a:xfrm>
            <a:off x="9043416" y="4956048"/>
            <a:ext cx="2459736" cy="274320"/>
          </a:xfrm>
          <a:prstGeom prst="rect">
            <a:avLst/>
          </a:prstGeom>
          <a:noFill/>
          <a:ln/>
        </p:spPr>
        <p:txBody>
          <a:bodyPr wrap="square" lIns="0" tIns="0" rIns="0" bIns="0" rtlCol="0" anchor="t"/>
          <a:lstStyle/>
          <a:p>
            <a:pPr indent="0" marL="0">
              <a:buNone/>
            </a:pPr>
            <a:r>
              <a:rPr lang="en-US" sz="1600" b="1" dirty="0">
                <a:solidFill>
                  <a:schemeClr val="tx2"/>
                </a:solidFill>
              </a:rPr>
              <a:t>Google Maps Platform</a:t>
            </a:r>
            <a:endParaRPr lang="en-US" sz="1600" dirty="0"/>
          </a:p>
        </p:txBody>
      </p:sp>
      <p:sp>
        <p:nvSpPr>
          <p:cNvPr id="39" name="Planned Role 4"/>
          <p:cNvSpPr txBox="1"/>
          <p:nvPr/>
        </p:nvSpPr>
        <p:spPr>
          <a:xfrm>
            <a:off x="9043416" y="5276088"/>
            <a:ext cx="2459736" cy="548640"/>
          </a:xfrm>
          <a:prstGeom prst="rect">
            <a:avLst/>
          </a:prstGeom>
          <a:noFill/>
          <a:ln/>
        </p:spPr>
        <p:txBody>
          <a:bodyPr wrap="square" lIns="0" tIns="0" rIns="0" bIns="0" rtlCol="0" anchor="t"/>
          <a:lstStyle/>
          <a:p>
            <a:pPr indent="0" marL="0">
              <a:buNone/>
            </a:pPr>
            <a:r>
              <a:rPr lang="en-US" sz="1400" dirty="0">
                <a:solidFill>
                  <a:schemeClr val="accent4"/>
                </a:solidFill>
              </a:rPr>
              <a:t>Maps, routing and traffic layers.</a:t>
            </a:r>
            <a:endParaRPr lang="en-US" sz="1400" dirty="0"/>
          </a:p>
        </p:txBody>
      </p:sp>
      <p:sp>
        <p:nvSpPr>
          <p:cNvPr id="40" name="Technology Note"/>
          <p:cNvSpPr txBox="1"/>
          <p:nvPr/>
        </p:nvSpPr>
        <p:spPr>
          <a:xfrm>
            <a:off x="548640" y="6016752"/>
            <a:ext cx="11091672" cy="274320"/>
          </a:xfrm>
          <a:prstGeom prst="rect">
            <a:avLst/>
          </a:prstGeom>
          <a:noFill/>
          <a:ln/>
        </p:spPr>
        <p:txBody>
          <a:bodyPr wrap="square" lIns="0" tIns="0" rIns="0" bIns="0" rtlCol="0" anchor="t"/>
          <a:lstStyle/>
          <a:p>
            <a:pPr indent="0" marL="0">
              <a:buNone/>
            </a:pPr>
            <a:r>
              <a:rPr lang="en-US" sz="1200" dirty="0">
                <a:solidFill>
                  <a:schemeClr val="accent4"/>
                </a:solidFill>
              </a:rPr>
              <a:t>Planned items are proposals. Move them to "Implemented" if your final build includes them.</a:t>
            </a:r>
            <a:endParaRPr lang="en-US" sz="1200" dirty="0"/>
          </a:p>
        </p:txBody>
      </p:sp>
      <p:sp>
        <p:nvSpPr>
          <p:cNvPr id="25" name="Slide Number Placeholder 0"/>
          <p:cNvSpPr>
            <a:spLocks noGrp="1"/>
          </p:cNvSpPr>
          <p:nvPr>
            <p:ph type="sldNum" sz="quarter" idx="4294967295"/>
          </p:nvPr>
        </p:nvSpPr>
        <p:spPr>
          <a:xfrm>
            <a:off x="10908792"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System Architecture</a:t>
            </a:r>
            <a:endParaRPr lang="en-US" sz="3600" dirty="0"/>
          </a:p>
        </p:txBody>
      </p:sp>
      <p:sp>
        <p:nvSpPr>
          <p:cNvPr id="3" name="Layer Label 1"/>
          <p:cNvSpPr txBox="1"/>
          <p:nvPr/>
        </p:nvSpPr>
        <p:spPr>
          <a:xfrm>
            <a:off x="548640" y="1463040"/>
            <a:ext cx="2194560" cy="274320"/>
          </a:xfrm>
          <a:prstGeom prst="rect">
            <a:avLst/>
          </a:prstGeom>
          <a:noFill/>
          <a:ln/>
        </p:spPr>
        <p:txBody>
          <a:bodyPr wrap="square" lIns="0" tIns="0" rIns="0" bIns="0" rtlCol="0" anchor="t"/>
          <a:lstStyle/>
          <a:p>
            <a:pPr algn="ctr" indent="0" marL="0">
              <a:buNone/>
            </a:pPr>
            <a:r>
              <a:rPr lang="en-US" sz="1200" b="1" spc="100" kern="0" dirty="0">
                <a:solidFill>
                  <a:schemeClr val="accent4"/>
                </a:solidFill>
              </a:rPr>
              <a:t>CLIENT</a:t>
            </a:r>
            <a:endParaRPr lang="en-US" sz="1200" dirty="0"/>
          </a:p>
        </p:txBody>
      </p:sp>
      <p:sp>
        <p:nvSpPr>
          <p:cNvPr id="4" name="Layer Label 2"/>
          <p:cNvSpPr txBox="1"/>
          <p:nvPr/>
        </p:nvSpPr>
        <p:spPr>
          <a:xfrm>
            <a:off x="3514344" y="1463040"/>
            <a:ext cx="2194560" cy="274320"/>
          </a:xfrm>
          <a:prstGeom prst="rect">
            <a:avLst/>
          </a:prstGeom>
          <a:noFill/>
          <a:ln/>
        </p:spPr>
        <p:txBody>
          <a:bodyPr wrap="square" lIns="0" tIns="0" rIns="0" bIns="0" rtlCol="0" anchor="t"/>
          <a:lstStyle/>
          <a:p>
            <a:pPr algn="ctr" indent="0" marL="0">
              <a:buNone/>
            </a:pPr>
            <a:r>
              <a:rPr lang="en-US" sz="1200" b="1" spc="100" kern="0" dirty="0">
                <a:solidFill>
                  <a:schemeClr val="accent4"/>
                </a:solidFill>
              </a:rPr>
              <a:t>PRESENTATION</a:t>
            </a:r>
            <a:endParaRPr lang="en-US" sz="1200" dirty="0"/>
          </a:p>
        </p:txBody>
      </p:sp>
      <p:sp>
        <p:nvSpPr>
          <p:cNvPr id="5" name="Layer Label 3"/>
          <p:cNvSpPr txBox="1"/>
          <p:nvPr/>
        </p:nvSpPr>
        <p:spPr>
          <a:xfrm>
            <a:off x="6480048" y="1463040"/>
            <a:ext cx="2194560" cy="274320"/>
          </a:xfrm>
          <a:prstGeom prst="rect">
            <a:avLst/>
          </a:prstGeom>
          <a:noFill/>
          <a:ln/>
        </p:spPr>
        <p:txBody>
          <a:bodyPr wrap="square" lIns="0" tIns="0" rIns="0" bIns="0" rtlCol="0" anchor="t"/>
          <a:lstStyle/>
          <a:p>
            <a:pPr algn="ctr" indent="0" marL="0">
              <a:buNone/>
            </a:pPr>
            <a:r>
              <a:rPr lang="en-US" sz="1200" b="1" spc="100" kern="0" dirty="0">
                <a:solidFill>
                  <a:schemeClr val="accent4"/>
                </a:solidFill>
              </a:rPr>
              <a:t>APPLICATION (PLANNED)</a:t>
            </a:r>
            <a:endParaRPr lang="en-US" sz="1200" dirty="0"/>
          </a:p>
        </p:txBody>
      </p:sp>
      <p:sp>
        <p:nvSpPr>
          <p:cNvPr id="6" name="Layer Label 4"/>
          <p:cNvSpPr txBox="1"/>
          <p:nvPr/>
        </p:nvSpPr>
        <p:spPr>
          <a:xfrm>
            <a:off x="9445752" y="1463040"/>
            <a:ext cx="2194560" cy="274320"/>
          </a:xfrm>
          <a:prstGeom prst="rect">
            <a:avLst/>
          </a:prstGeom>
          <a:noFill/>
          <a:ln/>
        </p:spPr>
        <p:txBody>
          <a:bodyPr wrap="square" lIns="0" tIns="0" rIns="0" bIns="0" rtlCol="0" anchor="t"/>
          <a:lstStyle/>
          <a:p>
            <a:pPr algn="ctr" indent="0" marL="0">
              <a:buNone/>
            </a:pPr>
            <a:r>
              <a:rPr lang="en-US" sz="1200" b="1" spc="100" kern="0" dirty="0">
                <a:solidFill>
                  <a:schemeClr val="accent4"/>
                </a:solidFill>
              </a:rPr>
              <a:t>DATA (PLANNED)</a:t>
            </a:r>
            <a:endParaRPr lang="en-US" sz="1200" dirty="0"/>
          </a:p>
        </p:txBody>
      </p:sp>
      <p:sp>
        <p:nvSpPr>
          <p:cNvPr id="7" name="Architecture Box User"/>
          <p:cNvSpPr/>
          <p:nvPr/>
        </p:nvSpPr>
        <p:spPr>
          <a:xfrm>
            <a:off x="548640" y="1828800"/>
            <a:ext cx="2194560" cy="1554480"/>
          </a:xfrm>
          <a:prstGeom prst="roundRect">
            <a:avLst>
              <a:gd name="adj" fmla="val 5882"/>
            </a:avLst>
          </a:prstGeom>
          <a:solidFill>
            <a:schemeClr val="bg2"/>
          </a:solidFill>
          <a:ln w="19050">
            <a:solidFill>
              <a:schemeClr val="accent2"/>
            </a:solidFill>
            <a:prstDash val="solid"/>
          </a:ln>
        </p:spPr>
      </p:sp>
      <p:sp>
        <p:nvSpPr>
          <p:cNvPr id="8" name="Architecture Icon Circle User"/>
          <p:cNvSpPr/>
          <p:nvPr/>
        </p:nvSpPr>
        <p:spPr>
          <a:xfrm>
            <a:off x="1371600" y="2011680"/>
            <a:ext cx="548640" cy="548640"/>
          </a:xfrm>
          <a:prstGeom prst="ellipse">
            <a:avLst/>
          </a:prstGeom>
          <a:solidFill>
            <a:schemeClr val="tx2"/>
          </a:solidFill>
          <a:ln/>
        </p:spPr>
      </p:sp>
      <p:pic>
        <p:nvPicPr>
          <p:cNvPr id="9" name="User icon" descr="User icon">    </p:cNvPr>
          <p:cNvPicPr>
            <a:picLocks noChangeAspect="1"/>
          </p:cNvPicPr>
          <p:nvPr/>
        </p:nvPicPr>
        <p:blipFill>
          <a:blip r:embed="rId1"/>
          <a:stretch>
            <a:fillRect/>
          </a:stretch>
        </p:blipFill>
        <p:spPr>
          <a:xfrm>
            <a:off x="1508760" y="2148840"/>
            <a:ext cx="274320" cy="274320"/>
          </a:xfrm>
          <a:prstGeom prst="rect">
            <a:avLst/>
          </a:prstGeom>
        </p:spPr>
      </p:pic>
      <p:sp>
        <p:nvSpPr>
          <p:cNvPr id="10" name="Architecture Title User"/>
          <p:cNvSpPr txBox="1"/>
          <p:nvPr/>
        </p:nvSpPr>
        <p:spPr>
          <a:xfrm>
            <a:off x="640080" y="2651760"/>
            <a:ext cx="2011680" cy="320040"/>
          </a:xfrm>
          <a:prstGeom prst="rect">
            <a:avLst/>
          </a:prstGeom>
          <a:noFill/>
          <a:ln/>
        </p:spPr>
        <p:txBody>
          <a:bodyPr wrap="square" lIns="0" tIns="0" rIns="0" bIns="0" rtlCol="0" anchor="t"/>
          <a:lstStyle/>
          <a:p>
            <a:pPr algn="ctr" indent="0" marL="0">
              <a:buNone/>
            </a:pPr>
            <a:r>
              <a:rPr lang="en-US" sz="1800" b="1" dirty="0">
                <a:solidFill>
                  <a:schemeClr val="tx2"/>
                </a:solidFill>
              </a:rPr>
              <a:t>User</a:t>
            </a:r>
            <a:endParaRPr lang="en-US" sz="1800" dirty="0"/>
          </a:p>
        </p:txBody>
      </p:sp>
      <p:sp>
        <p:nvSpPr>
          <p:cNvPr id="11" name="Architecture Text User"/>
          <p:cNvSpPr txBox="1"/>
          <p:nvPr/>
        </p:nvSpPr>
        <p:spPr>
          <a:xfrm>
            <a:off x="640080" y="2990088"/>
            <a:ext cx="2011680" cy="274320"/>
          </a:xfrm>
          <a:prstGeom prst="rect">
            <a:avLst/>
          </a:prstGeom>
          <a:noFill/>
          <a:ln/>
        </p:spPr>
        <p:txBody>
          <a:bodyPr wrap="square" lIns="0" tIns="0" rIns="0" bIns="0" rtlCol="0" anchor="t"/>
          <a:lstStyle/>
          <a:p>
            <a:pPr algn="ctr" indent="0" marL="0">
              <a:buNone/>
            </a:pPr>
            <a:r>
              <a:rPr lang="en-US" sz="1400" dirty="0">
                <a:solidFill>
                  <a:schemeClr val="accent4"/>
                </a:solidFill>
              </a:rPr>
              <a:t>Road users and citizens</a:t>
            </a:r>
            <a:endParaRPr lang="en-US" sz="1400" dirty="0"/>
          </a:p>
        </p:txBody>
      </p:sp>
      <p:sp>
        <p:nvSpPr>
          <p:cNvPr id="12" name="Architecture Box Frontend"/>
          <p:cNvSpPr/>
          <p:nvPr/>
        </p:nvSpPr>
        <p:spPr>
          <a:xfrm>
            <a:off x="3514344" y="1828800"/>
            <a:ext cx="2194560" cy="1554480"/>
          </a:xfrm>
          <a:prstGeom prst="roundRect">
            <a:avLst>
              <a:gd name="adj" fmla="val 5882"/>
            </a:avLst>
          </a:prstGeom>
          <a:solidFill>
            <a:schemeClr val="tx2"/>
          </a:solidFill>
          <a:ln/>
        </p:spPr>
      </p:sp>
      <p:sp>
        <p:nvSpPr>
          <p:cNvPr id="13" name="Architecture Icon Circle Frontend"/>
          <p:cNvSpPr/>
          <p:nvPr/>
        </p:nvSpPr>
        <p:spPr>
          <a:xfrm>
            <a:off x="4337304" y="2011680"/>
            <a:ext cx="548640" cy="548640"/>
          </a:xfrm>
          <a:prstGeom prst="ellipse">
            <a:avLst/>
          </a:prstGeom>
          <a:solidFill>
            <a:schemeClr val="accent1"/>
          </a:solidFill>
          <a:ln/>
        </p:spPr>
      </p:sp>
      <p:pic>
        <p:nvPicPr>
          <p:cNvPr id="14" name="Frontend icon" descr="Frontend icon">    </p:cNvPr>
          <p:cNvPicPr>
            <a:picLocks noChangeAspect="1"/>
          </p:cNvPicPr>
          <p:nvPr/>
        </p:nvPicPr>
        <p:blipFill>
          <a:blip r:embed="rId2"/>
          <a:stretch>
            <a:fillRect/>
          </a:stretch>
        </p:blipFill>
        <p:spPr>
          <a:xfrm>
            <a:off x="4474464" y="2148840"/>
            <a:ext cx="274320" cy="274320"/>
          </a:xfrm>
          <a:prstGeom prst="rect">
            <a:avLst/>
          </a:prstGeom>
        </p:spPr>
      </p:pic>
      <p:sp>
        <p:nvSpPr>
          <p:cNvPr id="15" name="Architecture Title Frontend"/>
          <p:cNvSpPr txBox="1"/>
          <p:nvPr/>
        </p:nvSpPr>
        <p:spPr>
          <a:xfrm>
            <a:off x="3605784" y="2651760"/>
            <a:ext cx="2011680" cy="320040"/>
          </a:xfrm>
          <a:prstGeom prst="rect">
            <a:avLst/>
          </a:prstGeom>
          <a:noFill/>
          <a:ln/>
        </p:spPr>
        <p:txBody>
          <a:bodyPr wrap="square" lIns="0" tIns="0" rIns="0" bIns="0" rtlCol="0" anchor="t"/>
          <a:lstStyle/>
          <a:p>
            <a:pPr algn="ctr" indent="0" marL="0">
              <a:buNone/>
            </a:pPr>
            <a:r>
              <a:rPr lang="en-US" sz="1800" b="1" dirty="0">
                <a:solidFill>
                  <a:schemeClr val="bg1"/>
                </a:solidFill>
              </a:rPr>
              <a:t>Frontend</a:t>
            </a:r>
            <a:endParaRPr lang="en-US" sz="1800" dirty="0"/>
          </a:p>
        </p:txBody>
      </p:sp>
      <p:sp>
        <p:nvSpPr>
          <p:cNvPr id="16" name="Architecture Text Frontend"/>
          <p:cNvSpPr txBox="1"/>
          <p:nvPr/>
        </p:nvSpPr>
        <p:spPr>
          <a:xfrm>
            <a:off x="3605784" y="2990088"/>
            <a:ext cx="2011680" cy="274320"/>
          </a:xfrm>
          <a:prstGeom prst="rect">
            <a:avLst/>
          </a:prstGeom>
          <a:noFill/>
          <a:ln/>
        </p:spPr>
        <p:txBody>
          <a:bodyPr wrap="square" lIns="0" tIns="0" rIns="0" bIns="0" rtlCol="0" anchor="t"/>
          <a:lstStyle/>
          <a:p>
            <a:pPr algn="ctr" indent="0" marL="0">
              <a:buNone/>
            </a:pPr>
            <a:r>
              <a:rPr lang="en-US" sz="1400" dirty="0">
                <a:solidFill>
                  <a:schemeClr val="accent5"/>
                </a:solidFill>
              </a:rPr>
              <a:t>HTML5 · CSS3 · JavaScript</a:t>
            </a:r>
            <a:endParaRPr lang="en-US" sz="1400" dirty="0"/>
          </a:p>
        </p:txBody>
      </p:sp>
      <p:sp>
        <p:nvSpPr>
          <p:cNvPr id="17" name="Architecture Box Backend API"/>
          <p:cNvSpPr/>
          <p:nvPr/>
        </p:nvSpPr>
        <p:spPr>
          <a:xfrm>
            <a:off x="6480048" y="1828800"/>
            <a:ext cx="2194560" cy="1554480"/>
          </a:xfrm>
          <a:prstGeom prst="roundRect">
            <a:avLst>
              <a:gd name="adj" fmla="val 5882"/>
            </a:avLst>
          </a:prstGeom>
          <a:solidFill>
            <a:schemeClr val="bg1"/>
          </a:solidFill>
          <a:ln w="25400">
            <a:solidFill>
              <a:schemeClr val="accent2"/>
            </a:solidFill>
            <a:prstDash val="dash"/>
          </a:ln>
        </p:spPr>
      </p:sp>
      <p:sp>
        <p:nvSpPr>
          <p:cNvPr id="18" name="Architecture Icon Circle Backend API"/>
          <p:cNvSpPr/>
          <p:nvPr/>
        </p:nvSpPr>
        <p:spPr>
          <a:xfrm>
            <a:off x="7303008" y="2011680"/>
            <a:ext cx="548640" cy="548640"/>
          </a:xfrm>
          <a:prstGeom prst="ellipse">
            <a:avLst/>
          </a:prstGeom>
          <a:solidFill>
            <a:schemeClr val="tx2"/>
          </a:solidFill>
          <a:ln/>
        </p:spPr>
      </p:sp>
      <p:pic>
        <p:nvPicPr>
          <p:cNvPr id="19" name="Backend API icon" descr="Backend API icon">    </p:cNvPr>
          <p:cNvPicPr>
            <a:picLocks noChangeAspect="1"/>
          </p:cNvPicPr>
          <p:nvPr/>
        </p:nvPicPr>
        <p:blipFill>
          <a:blip r:embed="rId3"/>
          <a:stretch>
            <a:fillRect/>
          </a:stretch>
        </p:blipFill>
        <p:spPr>
          <a:xfrm>
            <a:off x="7440168" y="2148840"/>
            <a:ext cx="274320" cy="274320"/>
          </a:xfrm>
          <a:prstGeom prst="rect">
            <a:avLst/>
          </a:prstGeom>
        </p:spPr>
      </p:pic>
      <p:sp>
        <p:nvSpPr>
          <p:cNvPr id="20" name="Architecture Title Backend API"/>
          <p:cNvSpPr txBox="1"/>
          <p:nvPr/>
        </p:nvSpPr>
        <p:spPr>
          <a:xfrm>
            <a:off x="6571488" y="2651760"/>
            <a:ext cx="2011680" cy="320040"/>
          </a:xfrm>
          <a:prstGeom prst="rect">
            <a:avLst/>
          </a:prstGeom>
          <a:noFill/>
          <a:ln/>
        </p:spPr>
        <p:txBody>
          <a:bodyPr wrap="square" lIns="0" tIns="0" rIns="0" bIns="0" rtlCol="0" anchor="t"/>
          <a:lstStyle/>
          <a:p>
            <a:pPr algn="ctr" indent="0" marL="0">
              <a:buNone/>
            </a:pPr>
            <a:r>
              <a:rPr lang="en-US" sz="1800" b="1" dirty="0">
                <a:solidFill>
                  <a:schemeClr val="tx2"/>
                </a:solidFill>
              </a:rPr>
              <a:t>Backend API</a:t>
            </a:r>
            <a:endParaRPr lang="en-US" sz="1800" dirty="0"/>
          </a:p>
        </p:txBody>
      </p:sp>
      <p:sp>
        <p:nvSpPr>
          <p:cNvPr id="21" name="Architecture Text Backend API"/>
          <p:cNvSpPr txBox="1"/>
          <p:nvPr/>
        </p:nvSpPr>
        <p:spPr>
          <a:xfrm>
            <a:off x="6571488" y="2990088"/>
            <a:ext cx="2011680" cy="274320"/>
          </a:xfrm>
          <a:prstGeom prst="rect">
            <a:avLst/>
          </a:prstGeom>
          <a:noFill/>
          <a:ln/>
        </p:spPr>
        <p:txBody>
          <a:bodyPr wrap="square" lIns="0" tIns="0" rIns="0" bIns="0" rtlCol="0" anchor="t"/>
          <a:lstStyle/>
          <a:p>
            <a:pPr algn="ctr" indent="0" marL="0">
              <a:buNone/>
            </a:pPr>
            <a:r>
              <a:rPr lang="en-US" sz="1400" dirty="0">
                <a:solidFill>
                  <a:schemeClr val="accent4"/>
                </a:solidFill>
              </a:rPr>
              <a:t>Java / Spring Boot · REST</a:t>
            </a:r>
            <a:endParaRPr lang="en-US" sz="1400" dirty="0"/>
          </a:p>
        </p:txBody>
      </p:sp>
      <p:sp>
        <p:nvSpPr>
          <p:cNvPr id="22" name="Architecture Box Database"/>
          <p:cNvSpPr/>
          <p:nvPr/>
        </p:nvSpPr>
        <p:spPr>
          <a:xfrm>
            <a:off x="9445752" y="1828800"/>
            <a:ext cx="2194560" cy="1554480"/>
          </a:xfrm>
          <a:prstGeom prst="roundRect">
            <a:avLst>
              <a:gd name="adj" fmla="val 5882"/>
            </a:avLst>
          </a:prstGeom>
          <a:solidFill>
            <a:schemeClr val="bg1"/>
          </a:solidFill>
          <a:ln w="25400">
            <a:solidFill>
              <a:schemeClr val="accent2"/>
            </a:solidFill>
            <a:prstDash val="dash"/>
          </a:ln>
        </p:spPr>
      </p:sp>
      <p:sp>
        <p:nvSpPr>
          <p:cNvPr id="23" name="Architecture Icon Circle Database"/>
          <p:cNvSpPr/>
          <p:nvPr/>
        </p:nvSpPr>
        <p:spPr>
          <a:xfrm>
            <a:off x="10268712" y="2011680"/>
            <a:ext cx="548640" cy="548640"/>
          </a:xfrm>
          <a:prstGeom prst="ellipse">
            <a:avLst/>
          </a:prstGeom>
          <a:solidFill>
            <a:schemeClr val="tx2"/>
          </a:solidFill>
          <a:ln/>
        </p:spPr>
      </p:sp>
      <p:pic>
        <p:nvPicPr>
          <p:cNvPr id="24" name="Database icon" descr="Database icon">    </p:cNvPr>
          <p:cNvPicPr>
            <a:picLocks noChangeAspect="1"/>
          </p:cNvPicPr>
          <p:nvPr/>
        </p:nvPicPr>
        <p:blipFill>
          <a:blip r:embed="rId4"/>
          <a:stretch>
            <a:fillRect/>
          </a:stretch>
        </p:blipFill>
        <p:spPr>
          <a:xfrm>
            <a:off x="10405872" y="2148840"/>
            <a:ext cx="274320" cy="274320"/>
          </a:xfrm>
          <a:prstGeom prst="rect">
            <a:avLst/>
          </a:prstGeom>
        </p:spPr>
      </p:pic>
      <p:sp>
        <p:nvSpPr>
          <p:cNvPr id="25" name="Architecture Title Database"/>
          <p:cNvSpPr txBox="1"/>
          <p:nvPr/>
        </p:nvSpPr>
        <p:spPr>
          <a:xfrm>
            <a:off x="9537192" y="2651760"/>
            <a:ext cx="2011680" cy="320040"/>
          </a:xfrm>
          <a:prstGeom prst="rect">
            <a:avLst/>
          </a:prstGeom>
          <a:noFill/>
          <a:ln/>
        </p:spPr>
        <p:txBody>
          <a:bodyPr wrap="square" lIns="0" tIns="0" rIns="0" bIns="0" rtlCol="0" anchor="t"/>
          <a:lstStyle/>
          <a:p>
            <a:pPr algn="ctr" indent="0" marL="0">
              <a:buNone/>
            </a:pPr>
            <a:r>
              <a:rPr lang="en-US" sz="1800" b="1" dirty="0">
                <a:solidFill>
                  <a:schemeClr val="tx2"/>
                </a:solidFill>
              </a:rPr>
              <a:t>Database</a:t>
            </a:r>
            <a:endParaRPr lang="en-US" sz="1800" dirty="0"/>
          </a:p>
        </p:txBody>
      </p:sp>
      <p:sp>
        <p:nvSpPr>
          <p:cNvPr id="26" name="Architecture Text Database"/>
          <p:cNvSpPr txBox="1"/>
          <p:nvPr/>
        </p:nvSpPr>
        <p:spPr>
          <a:xfrm>
            <a:off x="9537192" y="2990088"/>
            <a:ext cx="2011680" cy="274320"/>
          </a:xfrm>
          <a:prstGeom prst="rect">
            <a:avLst/>
          </a:prstGeom>
          <a:noFill/>
          <a:ln/>
        </p:spPr>
        <p:txBody>
          <a:bodyPr wrap="square" lIns="0" tIns="0" rIns="0" bIns="0" rtlCol="0" anchor="t"/>
          <a:lstStyle/>
          <a:p>
            <a:pPr algn="ctr" indent="0" marL="0">
              <a:buNone/>
            </a:pPr>
            <a:r>
              <a:rPr lang="en-US" sz="1400" dirty="0">
                <a:solidFill>
                  <a:schemeClr val="accent4"/>
                </a:solidFill>
              </a:rPr>
              <a:t>MySQL</a:t>
            </a:r>
            <a:endParaRPr lang="en-US" sz="1400" dirty="0"/>
          </a:p>
        </p:txBody>
      </p:sp>
      <p:sp>
        <p:nvSpPr>
          <p:cNvPr id="27" name="Arrow User to Frontend"/>
          <p:cNvSpPr/>
          <p:nvPr/>
        </p:nvSpPr>
        <p:spPr>
          <a:xfrm>
            <a:off x="2816352" y="2606040"/>
            <a:ext cx="624840" cy="0"/>
          </a:xfrm>
          <a:prstGeom prst="line">
            <a:avLst/>
          </a:prstGeom>
          <a:noFill/>
          <a:ln w="25400">
            <a:solidFill>
              <a:schemeClr val="accent2"/>
            </a:solidFill>
            <a:prstDash val="solid"/>
            <a:tailEnd type="triangle"/>
          </a:ln>
        </p:spPr>
      </p:sp>
      <p:sp>
        <p:nvSpPr>
          <p:cNvPr id="28" name="Arrow Frontend to Backend"/>
          <p:cNvSpPr/>
          <p:nvPr/>
        </p:nvSpPr>
        <p:spPr>
          <a:xfrm>
            <a:off x="5782056" y="2606040"/>
            <a:ext cx="624840" cy="0"/>
          </a:xfrm>
          <a:prstGeom prst="line">
            <a:avLst/>
          </a:prstGeom>
          <a:noFill/>
          <a:ln w="25400">
            <a:solidFill>
              <a:schemeClr val="accent2"/>
            </a:solidFill>
            <a:prstDash val="dash"/>
            <a:tailEnd type="triangle"/>
          </a:ln>
        </p:spPr>
      </p:sp>
      <p:sp>
        <p:nvSpPr>
          <p:cNvPr id="29" name="Arrow Backend to Database"/>
          <p:cNvSpPr/>
          <p:nvPr/>
        </p:nvSpPr>
        <p:spPr>
          <a:xfrm>
            <a:off x="8747760" y="2606040"/>
            <a:ext cx="624840" cy="0"/>
          </a:xfrm>
          <a:prstGeom prst="line">
            <a:avLst/>
          </a:prstGeom>
          <a:noFill/>
          <a:ln w="25400">
            <a:solidFill>
              <a:schemeClr val="accent2"/>
            </a:solidFill>
            <a:prstDash val="dash"/>
            <a:tailEnd type="triangle"/>
          </a:ln>
        </p:spPr>
      </p:sp>
      <p:sp>
        <p:nvSpPr>
          <p:cNvPr id="30" name="Label REST"/>
          <p:cNvSpPr txBox="1"/>
          <p:nvPr/>
        </p:nvSpPr>
        <p:spPr>
          <a:xfrm>
            <a:off x="5708904" y="2304288"/>
            <a:ext cx="771144" cy="228600"/>
          </a:xfrm>
          <a:prstGeom prst="rect">
            <a:avLst/>
          </a:prstGeom>
          <a:noFill/>
          <a:ln/>
        </p:spPr>
        <p:txBody>
          <a:bodyPr wrap="square" lIns="0" tIns="0" rIns="0" bIns="0" rtlCol="0" anchor="t"/>
          <a:lstStyle/>
          <a:p>
            <a:pPr algn="ctr" indent="0" marL="0">
              <a:buNone/>
            </a:pPr>
            <a:r>
              <a:rPr lang="en-US" sz="1000" dirty="0">
                <a:solidFill>
                  <a:schemeClr val="accent4"/>
                </a:solidFill>
              </a:rPr>
              <a:t>REST / JSON</a:t>
            </a:r>
            <a:endParaRPr lang="en-US" sz="1000" dirty="0"/>
          </a:p>
        </p:txBody>
      </p:sp>
      <p:sp>
        <p:nvSpPr>
          <p:cNvPr id="31" name="Label SQL"/>
          <p:cNvSpPr txBox="1"/>
          <p:nvPr/>
        </p:nvSpPr>
        <p:spPr>
          <a:xfrm>
            <a:off x="8674608" y="2304288"/>
            <a:ext cx="771144" cy="228600"/>
          </a:xfrm>
          <a:prstGeom prst="rect">
            <a:avLst/>
          </a:prstGeom>
          <a:noFill/>
          <a:ln/>
        </p:spPr>
        <p:txBody>
          <a:bodyPr wrap="square" lIns="0" tIns="0" rIns="0" bIns="0" rtlCol="0" anchor="t"/>
          <a:lstStyle/>
          <a:p>
            <a:pPr algn="ctr" indent="0" marL="0">
              <a:buNone/>
            </a:pPr>
            <a:r>
              <a:rPr lang="en-US" sz="1000" dirty="0">
                <a:solidFill>
                  <a:schemeClr val="accent4"/>
                </a:solidFill>
              </a:rPr>
              <a:t>SQL</a:t>
            </a:r>
            <a:endParaRPr lang="en-US" sz="1000" dirty="0"/>
          </a:p>
        </p:txBody>
      </p:sp>
      <p:sp>
        <p:nvSpPr>
          <p:cNvPr id="32" name="Google Maps Box"/>
          <p:cNvSpPr/>
          <p:nvPr/>
        </p:nvSpPr>
        <p:spPr>
          <a:xfrm>
            <a:off x="3514344" y="4114800"/>
            <a:ext cx="5160264" cy="914400"/>
          </a:xfrm>
          <a:prstGeom prst="roundRect">
            <a:avLst>
              <a:gd name="adj" fmla="val 10000"/>
            </a:avLst>
          </a:prstGeom>
          <a:solidFill>
            <a:schemeClr val="bg2"/>
          </a:solidFill>
          <a:ln w="25400">
            <a:solidFill>
              <a:schemeClr val="accent2"/>
            </a:solidFill>
            <a:prstDash val="dash"/>
          </a:ln>
        </p:spPr>
      </p:sp>
      <p:sp>
        <p:nvSpPr>
          <p:cNvPr id="33" name="Maps Icon Circle"/>
          <p:cNvSpPr/>
          <p:nvPr/>
        </p:nvSpPr>
        <p:spPr>
          <a:xfrm>
            <a:off x="3788664" y="4297680"/>
            <a:ext cx="548640" cy="548640"/>
          </a:xfrm>
          <a:prstGeom prst="ellipse">
            <a:avLst/>
          </a:prstGeom>
          <a:solidFill>
            <a:schemeClr val="tx2"/>
          </a:solidFill>
          <a:ln/>
        </p:spPr>
      </p:sp>
      <p:pic>
        <p:nvPicPr>
          <p:cNvPr id="34" name="Google Maps icon" descr="Google Maps icon">    </p:cNvPr>
          <p:cNvPicPr>
            <a:picLocks noChangeAspect="1"/>
          </p:cNvPicPr>
          <p:nvPr/>
        </p:nvPicPr>
        <p:blipFill>
          <a:blip r:embed="rId5"/>
          <a:stretch>
            <a:fillRect/>
          </a:stretch>
        </p:blipFill>
        <p:spPr>
          <a:xfrm>
            <a:off x="3925824" y="4434840"/>
            <a:ext cx="274320" cy="274320"/>
          </a:xfrm>
          <a:prstGeom prst="rect">
            <a:avLst/>
          </a:prstGeom>
        </p:spPr>
      </p:pic>
      <p:sp>
        <p:nvSpPr>
          <p:cNvPr id="35" name="Maps Title"/>
          <p:cNvSpPr txBox="1"/>
          <p:nvPr/>
        </p:nvSpPr>
        <p:spPr>
          <a:xfrm>
            <a:off x="4611624" y="4270248"/>
            <a:ext cx="3788664" cy="320040"/>
          </a:xfrm>
          <a:prstGeom prst="rect">
            <a:avLst/>
          </a:prstGeom>
          <a:noFill/>
          <a:ln/>
        </p:spPr>
        <p:txBody>
          <a:bodyPr wrap="square" lIns="0" tIns="0" rIns="0" bIns="0" rtlCol="0" anchor="t"/>
          <a:lstStyle/>
          <a:p>
            <a:pPr indent="0" marL="0">
              <a:buNone/>
            </a:pPr>
            <a:r>
              <a:rPr lang="en-US" sz="1800" b="1" dirty="0">
                <a:solidFill>
                  <a:schemeClr val="tx2"/>
                </a:solidFill>
              </a:rPr>
              <a:t>Google Maps Platform</a:t>
            </a:r>
            <a:endParaRPr lang="en-US" sz="1800" dirty="0"/>
          </a:p>
        </p:txBody>
      </p:sp>
      <p:sp>
        <p:nvSpPr>
          <p:cNvPr id="36" name="Maps Text"/>
          <p:cNvSpPr txBox="1"/>
          <p:nvPr/>
        </p:nvSpPr>
        <p:spPr>
          <a:xfrm>
            <a:off x="4611624" y="4617720"/>
            <a:ext cx="3788664" cy="274320"/>
          </a:xfrm>
          <a:prstGeom prst="rect">
            <a:avLst/>
          </a:prstGeom>
          <a:noFill/>
          <a:ln/>
        </p:spPr>
        <p:txBody>
          <a:bodyPr wrap="square" lIns="0" tIns="0" rIns="0" bIns="0" rtlCol="0" anchor="t"/>
          <a:lstStyle/>
          <a:p>
            <a:pPr indent="0" marL="0">
              <a:buNone/>
            </a:pPr>
            <a:r>
              <a:rPr lang="en-US" sz="1400" dirty="0">
                <a:solidFill>
                  <a:schemeClr val="accent4"/>
                </a:solidFill>
              </a:rPr>
              <a:t>Optional external service for maps and routing</a:t>
            </a:r>
            <a:endParaRPr lang="en-US" sz="1400" dirty="0"/>
          </a:p>
        </p:txBody>
      </p:sp>
      <p:sp>
        <p:nvSpPr>
          <p:cNvPr id="37" name="Arrow Frontend to Maps"/>
          <p:cNvSpPr/>
          <p:nvPr/>
        </p:nvSpPr>
        <p:spPr>
          <a:xfrm>
            <a:off x="4611624" y="3429000"/>
            <a:ext cx="0" cy="640080"/>
          </a:xfrm>
          <a:prstGeom prst="line">
            <a:avLst/>
          </a:prstGeom>
          <a:noFill/>
          <a:ln w="22225">
            <a:solidFill>
              <a:schemeClr val="accent2"/>
            </a:solidFill>
            <a:prstDash val="dash"/>
            <a:headEnd type="triangle"/>
            <a:tailEnd type="triangle"/>
          </a:ln>
        </p:spPr>
      </p:sp>
      <p:sp>
        <p:nvSpPr>
          <p:cNvPr id="38" name="Arrow Backend to Maps"/>
          <p:cNvSpPr/>
          <p:nvPr/>
        </p:nvSpPr>
        <p:spPr>
          <a:xfrm>
            <a:off x="7577328" y="3429000"/>
            <a:ext cx="0" cy="640080"/>
          </a:xfrm>
          <a:prstGeom prst="line">
            <a:avLst/>
          </a:prstGeom>
          <a:noFill/>
          <a:ln w="22225">
            <a:solidFill>
              <a:schemeClr val="accent2"/>
            </a:solidFill>
            <a:prstDash val="dash"/>
            <a:headEnd type="triangle"/>
            <a:tailEnd type="triangle"/>
          </a:ln>
        </p:spPr>
      </p:sp>
      <p:sp>
        <p:nvSpPr>
          <p:cNvPr id="39" name="Legend Card"/>
          <p:cNvSpPr/>
          <p:nvPr/>
        </p:nvSpPr>
        <p:spPr>
          <a:xfrm>
            <a:off x="548640" y="4114800"/>
            <a:ext cx="2651760" cy="914400"/>
          </a:xfrm>
          <a:prstGeom prst="roundRect">
            <a:avLst>
              <a:gd name="adj" fmla="val 10000"/>
            </a:avLst>
          </a:prstGeom>
          <a:solidFill>
            <a:schemeClr val="bg2"/>
          </a:solidFill>
          <a:ln/>
        </p:spPr>
      </p:sp>
      <p:sp>
        <p:nvSpPr>
          <p:cNvPr id="40" name="Legend Solid"/>
          <p:cNvSpPr/>
          <p:nvPr/>
        </p:nvSpPr>
        <p:spPr>
          <a:xfrm>
            <a:off x="777240" y="4297680"/>
            <a:ext cx="457200" cy="201168"/>
          </a:xfrm>
          <a:prstGeom prst="roundRect">
            <a:avLst>
              <a:gd name="adj" fmla="val 22727"/>
            </a:avLst>
          </a:prstGeom>
          <a:solidFill>
            <a:schemeClr val="tx2"/>
          </a:solidFill>
          <a:ln/>
        </p:spPr>
      </p:sp>
      <p:sp>
        <p:nvSpPr>
          <p:cNvPr id="41" name="Legend Solid Text"/>
          <p:cNvSpPr txBox="1"/>
          <p:nvPr/>
        </p:nvSpPr>
        <p:spPr>
          <a:xfrm>
            <a:off x="1371600" y="4270248"/>
            <a:ext cx="1737360" cy="256032"/>
          </a:xfrm>
          <a:prstGeom prst="rect">
            <a:avLst/>
          </a:prstGeom>
          <a:noFill/>
          <a:ln/>
        </p:spPr>
        <p:txBody>
          <a:bodyPr wrap="square" lIns="0" tIns="0" rIns="0" bIns="0" rtlCol="0" anchor="t"/>
          <a:lstStyle/>
          <a:p>
            <a:pPr indent="0" marL="0">
              <a:buNone/>
            </a:pPr>
            <a:r>
              <a:rPr lang="en-US" sz="1400" dirty="0">
                <a:solidFill>
                  <a:schemeClr val="tx1"/>
                </a:solidFill>
              </a:rPr>
              <a:t>Implemented</a:t>
            </a:r>
            <a:endParaRPr lang="en-US" sz="1400" dirty="0"/>
          </a:p>
        </p:txBody>
      </p:sp>
      <p:sp>
        <p:nvSpPr>
          <p:cNvPr id="42" name="Legend Dashed"/>
          <p:cNvSpPr/>
          <p:nvPr/>
        </p:nvSpPr>
        <p:spPr>
          <a:xfrm>
            <a:off x="777240" y="4663440"/>
            <a:ext cx="457200" cy="201168"/>
          </a:xfrm>
          <a:prstGeom prst="roundRect">
            <a:avLst>
              <a:gd name="adj" fmla="val 22727"/>
            </a:avLst>
          </a:prstGeom>
          <a:solidFill>
            <a:schemeClr val="bg1"/>
          </a:solidFill>
          <a:ln w="19050">
            <a:solidFill>
              <a:schemeClr val="accent2"/>
            </a:solidFill>
            <a:prstDash val="dash"/>
          </a:ln>
        </p:spPr>
      </p:sp>
      <p:sp>
        <p:nvSpPr>
          <p:cNvPr id="43" name="Legend Dashed Text"/>
          <p:cNvSpPr txBox="1"/>
          <p:nvPr/>
        </p:nvSpPr>
        <p:spPr>
          <a:xfrm>
            <a:off x="1371600" y="4636008"/>
            <a:ext cx="1737360" cy="256032"/>
          </a:xfrm>
          <a:prstGeom prst="rect">
            <a:avLst/>
          </a:prstGeom>
          <a:noFill/>
          <a:ln/>
        </p:spPr>
        <p:txBody>
          <a:bodyPr wrap="square" lIns="0" tIns="0" rIns="0" bIns="0" rtlCol="0" anchor="t"/>
          <a:lstStyle/>
          <a:p>
            <a:pPr indent="0" marL="0">
              <a:buNone/>
            </a:pPr>
            <a:r>
              <a:rPr lang="en-US" sz="1400" dirty="0">
                <a:solidFill>
                  <a:schemeClr val="tx1"/>
                </a:solidFill>
              </a:rPr>
              <a:t>Planned / optional</a:t>
            </a:r>
            <a:endParaRPr lang="en-US" sz="1400" dirty="0"/>
          </a:p>
        </p:txBody>
      </p:sp>
      <p:sp>
        <p:nvSpPr>
          <p:cNvPr id="44" name="Scope Band"/>
          <p:cNvSpPr/>
          <p:nvPr/>
        </p:nvSpPr>
        <p:spPr>
          <a:xfrm>
            <a:off x="548640" y="5349240"/>
            <a:ext cx="11091672" cy="685800"/>
          </a:xfrm>
          <a:prstGeom prst="roundRect">
            <a:avLst>
              <a:gd name="adj" fmla="val 13333"/>
            </a:avLst>
          </a:prstGeom>
          <a:solidFill>
            <a:schemeClr val="accent5"/>
          </a:solidFill>
          <a:ln/>
        </p:spPr>
      </p:sp>
      <p:sp>
        <p:nvSpPr>
          <p:cNvPr id="45" name="Scope Band Text"/>
          <p:cNvSpPr txBox="1"/>
          <p:nvPr/>
        </p:nvSpPr>
        <p:spPr>
          <a:xfrm>
            <a:off x="822960" y="5349240"/>
            <a:ext cx="10543032" cy="685800"/>
          </a:xfrm>
          <a:prstGeom prst="rect">
            <a:avLst/>
          </a:prstGeom>
          <a:noFill/>
          <a:ln/>
        </p:spPr>
        <p:txBody>
          <a:bodyPr wrap="square" lIns="0" tIns="0" rIns="0" bIns="0" rtlCol="0" anchor="ctr"/>
          <a:lstStyle/>
          <a:p>
            <a:pPr indent="0" marL="0">
              <a:buNone/>
            </a:pPr>
            <a:r>
              <a:rPr lang="en-US" sz="1600" dirty="0">
                <a:solidFill>
                  <a:schemeClr val="tx2"/>
                </a:solidFill>
              </a:rPr>
              <a:t>Current scope: frontend modules built with HTML5, CSS3 and JavaScript. Backend API, MySQL and Google Maps are proposed extensions.</a:t>
            </a:r>
            <a:endParaRPr lang="en-US" sz="1600" dirty="0"/>
          </a:p>
        </p:txBody>
      </p:sp>
      <p:sp>
        <p:nvSpPr>
          <p:cNvPr id="25" name="Slide Number Placeholder 0"/>
          <p:cNvSpPr>
            <a:spLocks noGrp="1"/>
          </p:cNvSpPr>
          <p:nvPr>
            <p:ph type="sldNum" sz="quarter" idx="4294967295"/>
          </p:nvPr>
        </p:nvSpPr>
        <p:spPr>
          <a:xfrm>
            <a:off x="10908792"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Workflow</a:t>
            </a:r>
            <a:endParaRPr lang="en-US" sz="3600" dirty="0"/>
          </a:p>
        </p:txBody>
      </p:sp>
      <p:sp>
        <p:nvSpPr>
          <p:cNvPr id="3" name="Lane A Header"/>
          <p:cNvSpPr txBox="1"/>
          <p:nvPr/>
        </p:nvSpPr>
        <p:spPr>
          <a:xfrm>
            <a:off x="548640" y="1371600"/>
            <a:ext cx="5486400" cy="320040"/>
          </a:xfrm>
          <a:prstGeom prst="rect">
            <a:avLst/>
          </a:prstGeom>
          <a:noFill/>
          <a:ln/>
        </p:spPr>
        <p:txBody>
          <a:bodyPr wrap="square" lIns="0" tIns="0" rIns="0" bIns="0" rtlCol="0" anchor="t"/>
          <a:lstStyle/>
          <a:p>
            <a:pPr indent="0" marL="0">
              <a:buNone/>
            </a:pPr>
            <a:r>
              <a:rPr lang="en-US" sz="1800" b="1" dirty="0">
                <a:solidFill>
                  <a:schemeClr val="tx2"/>
                </a:solidFill>
              </a:rPr>
              <a:t>A   Road issue reporting</a:t>
            </a:r>
            <a:endParaRPr lang="en-US" sz="1800" dirty="0"/>
          </a:p>
        </p:txBody>
      </p:sp>
      <p:sp>
        <p:nvSpPr>
          <p:cNvPr id="4" name="Workflow Legend"/>
          <p:cNvSpPr txBox="1"/>
          <p:nvPr/>
        </p:nvSpPr>
        <p:spPr>
          <a:xfrm>
            <a:off x="5605272" y="1417320"/>
            <a:ext cx="6035040" cy="274320"/>
          </a:xfrm>
          <a:prstGeom prst="rect">
            <a:avLst/>
          </a:prstGeom>
          <a:noFill/>
          <a:ln/>
        </p:spPr>
        <p:txBody>
          <a:bodyPr wrap="square" lIns="0" tIns="0" rIns="0" bIns="0" rtlCol="0" anchor="t"/>
          <a:lstStyle/>
          <a:p>
            <a:pPr algn="r" indent="0" marL="0">
              <a:buNone/>
            </a:pPr>
            <a:r>
              <a:rPr lang="en-US" sz="1200" dirty="0">
                <a:solidFill>
                  <a:schemeClr val="accent4"/>
                </a:solidFill>
              </a:rPr>
              <a:t>Solid green = implemented   |   Dashed = proposed   |   * confirm against final build</a:t>
            </a:r>
            <a:endParaRPr lang="en-US" sz="1200" dirty="0"/>
          </a:p>
        </p:txBody>
      </p:sp>
      <p:sp>
        <p:nvSpPr>
          <p:cNvPr id="5" name="Step Card 1"/>
          <p:cNvSpPr/>
          <p:nvPr/>
        </p:nvSpPr>
        <p:spPr>
          <a:xfrm>
            <a:off x="548640" y="1828800"/>
            <a:ext cx="2423160" cy="1783080"/>
          </a:xfrm>
          <a:prstGeom prst="roundRect">
            <a:avLst>
              <a:gd name="adj" fmla="val 5128"/>
            </a:avLst>
          </a:prstGeom>
          <a:solidFill>
            <a:schemeClr val="accent3"/>
          </a:solidFill>
          <a:ln/>
        </p:spPr>
      </p:sp>
      <p:sp>
        <p:nvSpPr>
          <p:cNvPr id="6" name="Step Number 1"/>
          <p:cNvSpPr txBox="1"/>
          <p:nvPr/>
        </p:nvSpPr>
        <p:spPr>
          <a:xfrm>
            <a:off x="731520" y="2011680"/>
            <a:ext cx="411480" cy="41148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tep Title 1"/>
          <p:cNvSpPr txBox="1"/>
          <p:nvPr/>
        </p:nvSpPr>
        <p:spPr>
          <a:xfrm>
            <a:off x="1280160" y="2011680"/>
            <a:ext cx="1554480" cy="411480"/>
          </a:xfrm>
          <a:prstGeom prst="rect">
            <a:avLst/>
          </a:prstGeom>
          <a:noFill/>
          <a:ln/>
        </p:spPr>
        <p:txBody>
          <a:bodyPr wrap="square" lIns="0" tIns="0" rIns="0" bIns="0" rtlCol="0" anchor="ctr"/>
          <a:lstStyle/>
          <a:p>
            <a:pPr indent="0" marL="0">
              <a:buNone/>
            </a:pPr>
            <a:r>
              <a:rPr lang="en-US" sz="1600" b="1" dirty="0">
                <a:solidFill>
                  <a:schemeClr val="tx2"/>
                </a:solidFill>
              </a:rPr>
              <a:t>Submit report</a:t>
            </a:r>
            <a:endParaRPr lang="en-US" sz="1600" dirty="0"/>
          </a:p>
        </p:txBody>
      </p:sp>
      <p:sp>
        <p:nvSpPr>
          <p:cNvPr id="8" name="Step Text 1"/>
          <p:cNvSpPr txBox="1"/>
          <p:nvPr/>
        </p:nvSpPr>
        <p:spPr>
          <a:xfrm>
            <a:off x="731520" y="2560320"/>
            <a:ext cx="2057400" cy="594360"/>
          </a:xfrm>
          <a:prstGeom prst="rect">
            <a:avLst/>
          </a:prstGeom>
          <a:noFill/>
          <a:ln/>
        </p:spPr>
        <p:txBody>
          <a:bodyPr wrap="square" lIns="0" tIns="0" rIns="0" bIns="0" rtlCol="0" anchor="t"/>
          <a:lstStyle/>
          <a:p>
            <a:pPr indent="0" marL="0">
              <a:buNone/>
            </a:pPr>
            <a:r>
              <a:rPr lang="en-US" sz="1400" dirty="0">
                <a:solidFill>
                  <a:schemeClr val="tx1"/>
                </a:solidFill>
              </a:rPr>
              <a:t>User fills in the accident or road-issue form.</a:t>
            </a:r>
            <a:endParaRPr lang="en-US" sz="1400" dirty="0"/>
          </a:p>
        </p:txBody>
      </p:sp>
      <p:sp>
        <p:nvSpPr>
          <p:cNvPr id="9" name="Step Tag 1"/>
          <p:cNvSpPr txBox="1"/>
          <p:nvPr/>
        </p:nvSpPr>
        <p:spPr>
          <a:xfrm>
            <a:off x="731520" y="3200400"/>
            <a:ext cx="137160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Implemented</a:t>
            </a:r>
            <a:endParaRPr lang="en-US" sz="1200" dirty="0"/>
          </a:p>
        </p:txBody>
      </p:sp>
      <p:sp>
        <p:nvSpPr>
          <p:cNvPr id="10" name="Step Arrow 1"/>
          <p:cNvSpPr/>
          <p:nvPr/>
        </p:nvSpPr>
        <p:spPr>
          <a:xfrm>
            <a:off x="3044952" y="2720340"/>
            <a:ext cx="320040" cy="0"/>
          </a:xfrm>
          <a:prstGeom prst="line">
            <a:avLst/>
          </a:prstGeom>
          <a:noFill/>
          <a:ln w="25400">
            <a:solidFill>
              <a:schemeClr val="accent2"/>
            </a:solidFill>
            <a:prstDash val="solid"/>
            <a:tailEnd type="triangle"/>
          </a:ln>
        </p:spPr>
      </p:sp>
      <p:sp>
        <p:nvSpPr>
          <p:cNvPr id="11" name="Step Card 2"/>
          <p:cNvSpPr/>
          <p:nvPr/>
        </p:nvSpPr>
        <p:spPr>
          <a:xfrm>
            <a:off x="3438144" y="1828800"/>
            <a:ext cx="2423160" cy="1783080"/>
          </a:xfrm>
          <a:prstGeom prst="roundRect">
            <a:avLst>
              <a:gd name="adj" fmla="val 5128"/>
            </a:avLst>
          </a:prstGeom>
          <a:solidFill>
            <a:schemeClr val="accent3"/>
          </a:solidFill>
          <a:ln/>
        </p:spPr>
      </p:sp>
      <p:sp>
        <p:nvSpPr>
          <p:cNvPr id="12" name="Step Number 2"/>
          <p:cNvSpPr txBox="1"/>
          <p:nvPr/>
        </p:nvSpPr>
        <p:spPr>
          <a:xfrm>
            <a:off x="3621024" y="2011680"/>
            <a:ext cx="411480" cy="41148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Step Title 2"/>
          <p:cNvSpPr txBox="1"/>
          <p:nvPr/>
        </p:nvSpPr>
        <p:spPr>
          <a:xfrm>
            <a:off x="4169664" y="2011680"/>
            <a:ext cx="1554480" cy="411480"/>
          </a:xfrm>
          <a:prstGeom prst="rect">
            <a:avLst/>
          </a:prstGeom>
          <a:noFill/>
          <a:ln/>
        </p:spPr>
        <p:txBody>
          <a:bodyPr wrap="square" lIns="0" tIns="0" rIns="0" bIns="0" rtlCol="0" anchor="ctr"/>
          <a:lstStyle/>
          <a:p>
            <a:pPr indent="0" marL="0">
              <a:buNone/>
            </a:pPr>
            <a:r>
              <a:rPr lang="en-US" sz="1600" b="1" dirty="0">
                <a:solidFill>
                  <a:schemeClr val="tx2"/>
                </a:solidFill>
              </a:rPr>
              <a:t>Validate input</a:t>
            </a:r>
            <a:endParaRPr lang="en-US" sz="1600" dirty="0"/>
          </a:p>
        </p:txBody>
      </p:sp>
      <p:sp>
        <p:nvSpPr>
          <p:cNvPr id="14" name="Step Text 2"/>
          <p:cNvSpPr txBox="1"/>
          <p:nvPr/>
        </p:nvSpPr>
        <p:spPr>
          <a:xfrm>
            <a:off x="3621024" y="2560320"/>
            <a:ext cx="2057400" cy="594360"/>
          </a:xfrm>
          <a:prstGeom prst="rect">
            <a:avLst/>
          </a:prstGeom>
          <a:noFill/>
          <a:ln/>
        </p:spPr>
        <p:txBody>
          <a:bodyPr wrap="square" lIns="0" tIns="0" rIns="0" bIns="0" rtlCol="0" anchor="t"/>
          <a:lstStyle/>
          <a:p>
            <a:pPr indent="0" marL="0">
              <a:buNone/>
            </a:pPr>
            <a:r>
              <a:rPr lang="en-US" sz="1400" dirty="0">
                <a:solidFill>
                  <a:schemeClr val="tx1"/>
                </a:solidFill>
              </a:rPr>
              <a:t>Required details checked before submission.</a:t>
            </a:r>
            <a:endParaRPr lang="en-US" sz="1400" dirty="0"/>
          </a:p>
        </p:txBody>
      </p:sp>
      <p:sp>
        <p:nvSpPr>
          <p:cNvPr id="15" name="Step Tag 2"/>
          <p:cNvSpPr txBox="1"/>
          <p:nvPr/>
        </p:nvSpPr>
        <p:spPr>
          <a:xfrm>
            <a:off x="3621024" y="3200400"/>
            <a:ext cx="137160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Implemented*</a:t>
            </a:r>
            <a:endParaRPr lang="en-US" sz="1200" dirty="0"/>
          </a:p>
        </p:txBody>
      </p:sp>
      <p:sp>
        <p:nvSpPr>
          <p:cNvPr id="16" name="Step Arrow 2"/>
          <p:cNvSpPr/>
          <p:nvPr/>
        </p:nvSpPr>
        <p:spPr>
          <a:xfrm>
            <a:off x="5934456" y="2720340"/>
            <a:ext cx="320040" cy="0"/>
          </a:xfrm>
          <a:prstGeom prst="line">
            <a:avLst/>
          </a:prstGeom>
          <a:noFill/>
          <a:ln w="25400">
            <a:solidFill>
              <a:schemeClr val="accent2"/>
            </a:solidFill>
            <a:prstDash val="dash"/>
            <a:tailEnd type="triangle"/>
          </a:ln>
        </p:spPr>
      </p:sp>
      <p:sp>
        <p:nvSpPr>
          <p:cNvPr id="17" name="Step Card 3"/>
          <p:cNvSpPr/>
          <p:nvPr/>
        </p:nvSpPr>
        <p:spPr>
          <a:xfrm>
            <a:off x="6327648" y="1828800"/>
            <a:ext cx="2423160" cy="1783080"/>
          </a:xfrm>
          <a:prstGeom prst="roundRect">
            <a:avLst>
              <a:gd name="adj" fmla="val 5128"/>
            </a:avLst>
          </a:prstGeom>
          <a:solidFill>
            <a:schemeClr val="bg1"/>
          </a:solidFill>
          <a:ln w="19050">
            <a:solidFill>
              <a:schemeClr val="accent2"/>
            </a:solidFill>
            <a:prstDash val="dash"/>
          </a:ln>
        </p:spPr>
      </p:sp>
      <p:sp>
        <p:nvSpPr>
          <p:cNvPr id="18" name="Step Number 3"/>
          <p:cNvSpPr txBox="1"/>
          <p:nvPr/>
        </p:nvSpPr>
        <p:spPr>
          <a:xfrm>
            <a:off x="6510528" y="2011680"/>
            <a:ext cx="411480" cy="41148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Step Title 3"/>
          <p:cNvSpPr txBox="1"/>
          <p:nvPr/>
        </p:nvSpPr>
        <p:spPr>
          <a:xfrm>
            <a:off x="7059168" y="2011680"/>
            <a:ext cx="1554480" cy="411480"/>
          </a:xfrm>
          <a:prstGeom prst="rect">
            <a:avLst/>
          </a:prstGeom>
          <a:noFill/>
          <a:ln/>
        </p:spPr>
        <p:txBody>
          <a:bodyPr wrap="square" lIns="0" tIns="0" rIns="0" bIns="0" rtlCol="0" anchor="ctr"/>
          <a:lstStyle/>
          <a:p>
            <a:pPr indent="0" marL="0">
              <a:buNone/>
            </a:pPr>
            <a:r>
              <a:rPr lang="en-US" sz="1600" b="1" dirty="0">
                <a:solidFill>
                  <a:schemeClr val="tx2"/>
                </a:solidFill>
              </a:rPr>
              <a:t>Store report</a:t>
            </a:r>
            <a:endParaRPr lang="en-US" sz="1600" dirty="0"/>
          </a:p>
        </p:txBody>
      </p:sp>
      <p:sp>
        <p:nvSpPr>
          <p:cNvPr id="20" name="Step Text 3"/>
          <p:cNvSpPr txBox="1"/>
          <p:nvPr/>
        </p:nvSpPr>
        <p:spPr>
          <a:xfrm>
            <a:off x="6510528" y="2560320"/>
            <a:ext cx="2057400" cy="594360"/>
          </a:xfrm>
          <a:prstGeom prst="rect">
            <a:avLst/>
          </a:prstGeom>
          <a:noFill/>
          <a:ln/>
        </p:spPr>
        <p:txBody>
          <a:bodyPr wrap="square" lIns="0" tIns="0" rIns="0" bIns="0" rtlCol="0" anchor="t"/>
          <a:lstStyle/>
          <a:p>
            <a:pPr indent="0" marL="0">
              <a:buNone/>
            </a:pPr>
            <a:r>
              <a:rPr lang="en-US" sz="1400" dirty="0">
                <a:solidFill>
                  <a:schemeClr val="tx1"/>
                </a:solidFill>
              </a:rPr>
              <a:t>Save details in MySQL through the backend API.</a:t>
            </a:r>
            <a:endParaRPr lang="en-US" sz="1400" dirty="0"/>
          </a:p>
        </p:txBody>
      </p:sp>
      <p:sp>
        <p:nvSpPr>
          <p:cNvPr id="21" name="Step Tag 3"/>
          <p:cNvSpPr txBox="1"/>
          <p:nvPr/>
        </p:nvSpPr>
        <p:spPr>
          <a:xfrm>
            <a:off x="6510528" y="3200400"/>
            <a:ext cx="1371600" cy="274320"/>
          </a:xfrm>
          <a:prstGeom prst="roundRect">
            <a:avLst>
              <a:gd name="adj" fmla="val 50000"/>
            </a:avLst>
          </a:prstGeom>
          <a:solidFill>
            <a:schemeClr val="bg1"/>
          </a:solidFill>
          <a:ln w="15875">
            <a:solidFill>
              <a:schemeClr val="accent2"/>
            </a:solidFill>
            <a:prstDash val="dash"/>
          </a:ln>
        </p:spPr>
        <p:txBody>
          <a:bodyPr wrap="square" lIns="0" tIns="0" rIns="0" bIns="0" rtlCol="0" anchor="ctr"/>
          <a:lstStyle/>
          <a:p>
            <a:pPr algn="ctr" indent="0" marL="0">
              <a:buNone/>
            </a:pPr>
            <a:r>
              <a:rPr lang="en-US" sz="1200" b="1" dirty="0">
                <a:solidFill>
                  <a:schemeClr val="accent2"/>
                </a:solidFill>
              </a:rPr>
              <a:t>Proposed</a:t>
            </a:r>
            <a:endParaRPr lang="en-US" sz="1200" dirty="0"/>
          </a:p>
        </p:txBody>
      </p:sp>
      <p:sp>
        <p:nvSpPr>
          <p:cNvPr id="22" name="Step Arrow 3"/>
          <p:cNvSpPr/>
          <p:nvPr/>
        </p:nvSpPr>
        <p:spPr>
          <a:xfrm>
            <a:off x="8823960" y="2720340"/>
            <a:ext cx="320040" cy="0"/>
          </a:xfrm>
          <a:prstGeom prst="line">
            <a:avLst/>
          </a:prstGeom>
          <a:noFill/>
          <a:ln w="25400">
            <a:solidFill>
              <a:schemeClr val="accent2"/>
            </a:solidFill>
            <a:prstDash val="solid"/>
            <a:tailEnd type="triangle"/>
          </a:ln>
        </p:spPr>
      </p:sp>
      <p:sp>
        <p:nvSpPr>
          <p:cNvPr id="23" name="Step Card 4"/>
          <p:cNvSpPr/>
          <p:nvPr/>
        </p:nvSpPr>
        <p:spPr>
          <a:xfrm>
            <a:off x="9217152" y="1828800"/>
            <a:ext cx="2423160" cy="1783080"/>
          </a:xfrm>
          <a:prstGeom prst="roundRect">
            <a:avLst>
              <a:gd name="adj" fmla="val 5128"/>
            </a:avLst>
          </a:prstGeom>
          <a:solidFill>
            <a:schemeClr val="bg1"/>
          </a:solidFill>
          <a:ln w="19050">
            <a:solidFill>
              <a:schemeClr val="accent2"/>
            </a:solidFill>
            <a:prstDash val="dash"/>
          </a:ln>
        </p:spPr>
      </p:sp>
      <p:sp>
        <p:nvSpPr>
          <p:cNvPr id="24" name="Step Number 4"/>
          <p:cNvSpPr txBox="1"/>
          <p:nvPr/>
        </p:nvSpPr>
        <p:spPr>
          <a:xfrm>
            <a:off x="9400032" y="2011680"/>
            <a:ext cx="411480" cy="41148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Step Title 4"/>
          <p:cNvSpPr txBox="1"/>
          <p:nvPr/>
        </p:nvSpPr>
        <p:spPr>
          <a:xfrm>
            <a:off x="9948672" y="2011680"/>
            <a:ext cx="1554480" cy="411480"/>
          </a:xfrm>
          <a:prstGeom prst="rect">
            <a:avLst/>
          </a:prstGeom>
          <a:noFill/>
          <a:ln/>
        </p:spPr>
        <p:txBody>
          <a:bodyPr wrap="square" lIns="0" tIns="0" rIns="0" bIns="0" rtlCol="0" anchor="ctr"/>
          <a:lstStyle/>
          <a:p>
            <a:pPr indent="0" marL="0">
              <a:buNone/>
            </a:pPr>
            <a:r>
              <a:rPr lang="en-US" sz="1600" b="1" dirty="0">
                <a:solidFill>
                  <a:schemeClr val="tx2"/>
                </a:solidFill>
              </a:rPr>
              <a:t>Review &amp; verify</a:t>
            </a:r>
            <a:endParaRPr lang="en-US" sz="1600" dirty="0"/>
          </a:p>
        </p:txBody>
      </p:sp>
      <p:sp>
        <p:nvSpPr>
          <p:cNvPr id="26" name="Step Text 4"/>
          <p:cNvSpPr txBox="1"/>
          <p:nvPr/>
        </p:nvSpPr>
        <p:spPr>
          <a:xfrm>
            <a:off x="9400032" y="2560320"/>
            <a:ext cx="2057400" cy="594360"/>
          </a:xfrm>
          <a:prstGeom prst="rect">
            <a:avLst/>
          </a:prstGeom>
          <a:noFill/>
          <a:ln/>
        </p:spPr>
        <p:txBody>
          <a:bodyPr wrap="square" lIns="0" tIns="0" rIns="0" bIns="0" rtlCol="0" anchor="t"/>
          <a:lstStyle/>
          <a:p>
            <a:pPr indent="0" marL="0">
              <a:buNone/>
            </a:pPr>
            <a:r>
              <a:rPr lang="en-US" sz="1400" dirty="0">
                <a:solidFill>
                  <a:schemeClr val="tx1"/>
                </a:solidFill>
              </a:rPr>
              <a:t>Authority or admin check, if supported.</a:t>
            </a:r>
            <a:endParaRPr lang="en-US" sz="1400" dirty="0"/>
          </a:p>
        </p:txBody>
      </p:sp>
      <p:sp>
        <p:nvSpPr>
          <p:cNvPr id="27" name="Step Tag 4"/>
          <p:cNvSpPr txBox="1"/>
          <p:nvPr/>
        </p:nvSpPr>
        <p:spPr>
          <a:xfrm>
            <a:off x="9400032" y="3200400"/>
            <a:ext cx="1371600" cy="274320"/>
          </a:xfrm>
          <a:prstGeom prst="roundRect">
            <a:avLst>
              <a:gd name="adj" fmla="val 50000"/>
            </a:avLst>
          </a:prstGeom>
          <a:solidFill>
            <a:schemeClr val="bg1"/>
          </a:solidFill>
          <a:ln w="15875">
            <a:solidFill>
              <a:schemeClr val="accent2"/>
            </a:solidFill>
            <a:prstDash val="dash"/>
          </a:ln>
        </p:spPr>
        <p:txBody>
          <a:bodyPr wrap="square" lIns="0" tIns="0" rIns="0" bIns="0" rtlCol="0" anchor="ctr"/>
          <a:lstStyle/>
          <a:p>
            <a:pPr algn="ctr" indent="0" marL="0">
              <a:buNone/>
            </a:pPr>
            <a:r>
              <a:rPr lang="en-US" sz="1200" b="1" dirty="0">
                <a:solidFill>
                  <a:schemeClr val="accent2"/>
                </a:solidFill>
              </a:rPr>
              <a:t>Proposed</a:t>
            </a:r>
            <a:endParaRPr lang="en-US" sz="1200" dirty="0"/>
          </a:p>
        </p:txBody>
      </p:sp>
      <p:sp>
        <p:nvSpPr>
          <p:cNvPr id="28" name="Lane B Header"/>
          <p:cNvSpPr txBox="1"/>
          <p:nvPr/>
        </p:nvSpPr>
        <p:spPr>
          <a:xfrm>
            <a:off x="548640" y="3840480"/>
            <a:ext cx="7315200" cy="320040"/>
          </a:xfrm>
          <a:prstGeom prst="rect">
            <a:avLst/>
          </a:prstGeom>
          <a:noFill/>
          <a:ln/>
        </p:spPr>
        <p:txBody>
          <a:bodyPr wrap="square" lIns="0" tIns="0" rIns="0" bIns="0" rtlCol="0" anchor="t"/>
          <a:lstStyle/>
          <a:p>
            <a:pPr indent="0" marL="0">
              <a:buNone/>
            </a:pPr>
            <a:r>
              <a:rPr lang="en-US" sz="1800" b="1" dirty="0">
                <a:solidFill>
                  <a:schemeClr val="tx2"/>
                </a:solidFill>
              </a:rPr>
              <a:t>B   Using road data for route recommendations</a:t>
            </a:r>
            <a:endParaRPr lang="en-US" sz="1800" dirty="0"/>
          </a:p>
        </p:txBody>
      </p:sp>
      <p:sp>
        <p:nvSpPr>
          <p:cNvPr id="29" name="Lane B Tag"/>
          <p:cNvSpPr txBox="1"/>
          <p:nvPr/>
        </p:nvSpPr>
        <p:spPr>
          <a:xfrm>
            <a:off x="5760720" y="3858768"/>
            <a:ext cx="1188720" cy="274320"/>
          </a:xfrm>
          <a:prstGeom prst="roundRect">
            <a:avLst>
              <a:gd name="adj" fmla="val 50000"/>
            </a:avLst>
          </a:prstGeom>
          <a:solidFill>
            <a:schemeClr val="bg1"/>
          </a:solidFill>
          <a:ln w="15875">
            <a:solidFill>
              <a:schemeClr val="accent2"/>
            </a:solidFill>
            <a:prstDash val="dash"/>
          </a:ln>
        </p:spPr>
        <p:txBody>
          <a:bodyPr wrap="square" lIns="0" tIns="0" rIns="0" bIns="0" rtlCol="0" anchor="ctr"/>
          <a:lstStyle/>
          <a:p>
            <a:pPr algn="ctr" indent="0" marL="0">
              <a:buNone/>
            </a:pPr>
            <a:r>
              <a:rPr lang="en-US" sz="1200" b="1" dirty="0">
                <a:solidFill>
                  <a:schemeClr val="accent2"/>
                </a:solidFill>
              </a:rPr>
              <a:t>Proposed</a:t>
            </a:r>
            <a:endParaRPr lang="en-US" sz="1200" dirty="0"/>
          </a:p>
        </p:txBody>
      </p:sp>
      <p:sp>
        <p:nvSpPr>
          <p:cNvPr id="30" name="Input 1"/>
          <p:cNvSpPr txBox="1"/>
          <p:nvPr/>
        </p:nvSpPr>
        <p:spPr>
          <a:xfrm>
            <a:off x="548640" y="4389120"/>
            <a:ext cx="2743200" cy="457200"/>
          </a:xfrm>
          <a:prstGeom prst="roundRect">
            <a:avLst>
              <a:gd name="adj" fmla="val 20000"/>
            </a:avLst>
          </a:prstGeom>
          <a:solidFill>
            <a:schemeClr val="bg1"/>
          </a:solidFill>
          <a:ln w="19050">
            <a:solidFill>
              <a:schemeClr val="accent2"/>
            </a:solidFill>
            <a:prstDash val="dash"/>
          </a:ln>
        </p:spPr>
        <p:txBody>
          <a:bodyPr wrap="square" lIns="0" tIns="0" rIns="0" bIns="0" rtlCol="0" anchor="ctr"/>
          <a:lstStyle/>
          <a:p>
            <a:pPr algn="ctr" indent="0" marL="0">
              <a:buNone/>
            </a:pPr>
            <a:r>
              <a:rPr lang="en-US" sz="1600" b="1" dirty="0">
                <a:solidFill>
                  <a:schemeClr val="tx2"/>
                </a:solidFill>
              </a:rPr>
              <a:t>Traffic data</a:t>
            </a:r>
            <a:endParaRPr lang="en-US" sz="1600" dirty="0"/>
          </a:p>
        </p:txBody>
      </p:sp>
      <p:sp>
        <p:nvSpPr>
          <p:cNvPr id="31" name="Input Arrow 1"/>
          <p:cNvSpPr/>
          <p:nvPr/>
        </p:nvSpPr>
        <p:spPr>
          <a:xfrm>
            <a:off x="3337560" y="4617720"/>
            <a:ext cx="685800" cy="0"/>
          </a:xfrm>
          <a:prstGeom prst="line">
            <a:avLst/>
          </a:prstGeom>
          <a:noFill/>
          <a:ln w="25400">
            <a:solidFill>
              <a:schemeClr val="accent2"/>
            </a:solidFill>
            <a:prstDash val="dash"/>
            <a:tailEnd type="triangle"/>
          </a:ln>
        </p:spPr>
      </p:sp>
      <p:sp>
        <p:nvSpPr>
          <p:cNvPr id="32" name="Input 2"/>
          <p:cNvSpPr txBox="1"/>
          <p:nvPr/>
        </p:nvSpPr>
        <p:spPr>
          <a:xfrm>
            <a:off x="548640" y="4983480"/>
            <a:ext cx="2743200" cy="457200"/>
          </a:xfrm>
          <a:prstGeom prst="roundRect">
            <a:avLst>
              <a:gd name="adj" fmla="val 20000"/>
            </a:avLst>
          </a:prstGeom>
          <a:solidFill>
            <a:schemeClr val="bg1"/>
          </a:solidFill>
          <a:ln w="19050">
            <a:solidFill>
              <a:schemeClr val="accent2"/>
            </a:solidFill>
            <a:prstDash val="dash"/>
          </a:ln>
        </p:spPr>
        <p:txBody>
          <a:bodyPr wrap="square" lIns="0" tIns="0" rIns="0" bIns="0" rtlCol="0" anchor="ctr"/>
          <a:lstStyle/>
          <a:p>
            <a:pPr algn="ctr" indent="0" marL="0">
              <a:buNone/>
            </a:pPr>
            <a:r>
              <a:rPr lang="en-US" sz="1600" b="1" dirty="0">
                <a:solidFill>
                  <a:schemeClr val="tx2"/>
                </a:solidFill>
              </a:rPr>
              <a:t>Road condition data</a:t>
            </a:r>
            <a:endParaRPr lang="en-US" sz="1600" dirty="0"/>
          </a:p>
        </p:txBody>
      </p:sp>
      <p:sp>
        <p:nvSpPr>
          <p:cNvPr id="33" name="Input Arrow 2"/>
          <p:cNvSpPr/>
          <p:nvPr/>
        </p:nvSpPr>
        <p:spPr>
          <a:xfrm>
            <a:off x="3337560" y="5212080"/>
            <a:ext cx="685800" cy="0"/>
          </a:xfrm>
          <a:prstGeom prst="line">
            <a:avLst/>
          </a:prstGeom>
          <a:noFill/>
          <a:ln w="25400">
            <a:solidFill>
              <a:schemeClr val="accent2"/>
            </a:solidFill>
            <a:prstDash val="dash"/>
            <a:tailEnd type="triangle"/>
          </a:ln>
        </p:spPr>
      </p:sp>
      <p:sp>
        <p:nvSpPr>
          <p:cNvPr id="34" name="Input 3"/>
          <p:cNvSpPr txBox="1"/>
          <p:nvPr/>
        </p:nvSpPr>
        <p:spPr>
          <a:xfrm>
            <a:off x="548640" y="5577840"/>
            <a:ext cx="2743200" cy="457200"/>
          </a:xfrm>
          <a:prstGeom prst="roundRect">
            <a:avLst>
              <a:gd name="adj" fmla="val 20000"/>
            </a:avLst>
          </a:prstGeom>
          <a:solidFill>
            <a:schemeClr val="bg1"/>
          </a:solidFill>
          <a:ln w="19050">
            <a:solidFill>
              <a:schemeClr val="accent2"/>
            </a:solidFill>
            <a:prstDash val="dash"/>
          </a:ln>
        </p:spPr>
        <p:txBody>
          <a:bodyPr wrap="square" lIns="0" tIns="0" rIns="0" bIns="0" rtlCol="0" anchor="ctr"/>
          <a:lstStyle/>
          <a:p>
            <a:pPr algn="ctr" indent="0" marL="0">
              <a:buNone/>
            </a:pPr>
            <a:r>
              <a:rPr lang="en-US" sz="1600" b="1" dirty="0">
                <a:solidFill>
                  <a:schemeClr val="tx2"/>
                </a:solidFill>
              </a:rPr>
              <a:t>Verified incident reports</a:t>
            </a:r>
            <a:endParaRPr lang="en-US" sz="1600" dirty="0"/>
          </a:p>
        </p:txBody>
      </p:sp>
      <p:sp>
        <p:nvSpPr>
          <p:cNvPr id="35" name="Input Arrow 3"/>
          <p:cNvSpPr/>
          <p:nvPr/>
        </p:nvSpPr>
        <p:spPr>
          <a:xfrm>
            <a:off x="3337560" y="5806440"/>
            <a:ext cx="685800" cy="0"/>
          </a:xfrm>
          <a:prstGeom prst="line">
            <a:avLst/>
          </a:prstGeom>
          <a:noFill/>
          <a:ln w="25400">
            <a:solidFill>
              <a:schemeClr val="accent2"/>
            </a:solidFill>
            <a:prstDash val="dash"/>
            <a:tailEnd type="triangle"/>
          </a:ln>
        </p:spPr>
      </p:sp>
      <p:sp>
        <p:nvSpPr>
          <p:cNvPr id="36" name="Route Evaluation Box"/>
          <p:cNvSpPr/>
          <p:nvPr/>
        </p:nvSpPr>
        <p:spPr>
          <a:xfrm>
            <a:off x="4069080" y="4389120"/>
            <a:ext cx="3017520" cy="1645920"/>
          </a:xfrm>
          <a:prstGeom prst="roundRect">
            <a:avLst>
              <a:gd name="adj" fmla="val 5556"/>
            </a:avLst>
          </a:prstGeom>
          <a:solidFill>
            <a:schemeClr val="tx2"/>
          </a:solidFill>
          <a:ln/>
        </p:spPr>
      </p:sp>
      <p:sp>
        <p:nvSpPr>
          <p:cNvPr id="37" name="Route Evaluation Title"/>
          <p:cNvSpPr txBox="1"/>
          <p:nvPr/>
        </p:nvSpPr>
        <p:spPr>
          <a:xfrm>
            <a:off x="4297680" y="4572000"/>
            <a:ext cx="2560320" cy="320040"/>
          </a:xfrm>
          <a:prstGeom prst="rect">
            <a:avLst/>
          </a:prstGeom>
          <a:noFill/>
          <a:ln/>
        </p:spPr>
        <p:txBody>
          <a:bodyPr wrap="square" lIns="0" tIns="0" rIns="0" bIns="0" rtlCol="0" anchor="t"/>
          <a:lstStyle/>
          <a:p>
            <a:pPr indent="0" marL="0">
              <a:buNone/>
            </a:pPr>
            <a:r>
              <a:rPr lang="en-US" sz="1800" b="1" dirty="0">
                <a:solidFill>
                  <a:schemeClr val="bg1"/>
                </a:solidFill>
              </a:rPr>
              <a:t>Route evaluation</a:t>
            </a:r>
            <a:endParaRPr lang="en-US" sz="1800" dirty="0"/>
          </a:p>
        </p:txBody>
      </p:sp>
      <p:sp>
        <p:nvSpPr>
          <p:cNvPr id="38" name="Route Evaluation Text"/>
          <p:cNvSpPr txBox="1"/>
          <p:nvPr/>
        </p:nvSpPr>
        <p:spPr>
          <a:xfrm>
            <a:off x="4297680" y="4983480"/>
            <a:ext cx="2560320" cy="731520"/>
          </a:xfrm>
          <a:prstGeom prst="rect">
            <a:avLst/>
          </a:prstGeom>
          <a:noFill/>
          <a:ln/>
        </p:spPr>
        <p:txBody>
          <a:bodyPr wrap="square" lIns="0" tIns="0" rIns="0" bIns="0" rtlCol="0" anchor="t"/>
          <a:lstStyle/>
          <a:p>
            <a:pPr indent="0" marL="0">
              <a:buNone/>
            </a:pPr>
            <a:r>
              <a:rPr lang="en-US" sz="1400" dirty="0">
                <a:solidFill>
                  <a:schemeClr val="accent5"/>
                </a:solidFill>
              </a:rPr>
              <a:t>Combine traffic, road condition and incident data for each route.</a:t>
            </a:r>
            <a:endParaRPr lang="en-US" sz="1400" dirty="0"/>
          </a:p>
        </p:txBody>
      </p:sp>
      <p:sp>
        <p:nvSpPr>
          <p:cNvPr id="39" name="Evaluation Arrow"/>
          <p:cNvSpPr/>
          <p:nvPr/>
        </p:nvSpPr>
        <p:spPr>
          <a:xfrm>
            <a:off x="7159752" y="5212080"/>
            <a:ext cx="640080" cy="0"/>
          </a:xfrm>
          <a:prstGeom prst="line">
            <a:avLst/>
          </a:prstGeom>
          <a:noFill/>
          <a:ln w="25400">
            <a:solidFill>
              <a:schemeClr val="accent2"/>
            </a:solidFill>
            <a:prstDash val="dash"/>
            <a:tailEnd type="triangle"/>
          </a:ln>
        </p:spPr>
      </p:sp>
      <p:sp>
        <p:nvSpPr>
          <p:cNvPr id="40" name="Recommendation Box"/>
          <p:cNvSpPr/>
          <p:nvPr/>
        </p:nvSpPr>
        <p:spPr>
          <a:xfrm>
            <a:off x="7872984" y="4389120"/>
            <a:ext cx="3767328" cy="1645920"/>
          </a:xfrm>
          <a:prstGeom prst="roundRect">
            <a:avLst>
              <a:gd name="adj" fmla="val 5556"/>
            </a:avLst>
          </a:prstGeom>
          <a:solidFill>
            <a:schemeClr val="accent1"/>
          </a:solidFill>
          <a:ln/>
        </p:spPr>
      </p:sp>
      <p:sp>
        <p:nvSpPr>
          <p:cNvPr id="41" name="Recommendation Title"/>
          <p:cNvSpPr txBox="1"/>
          <p:nvPr/>
        </p:nvSpPr>
        <p:spPr>
          <a:xfrm>
            <a:off x="8101584" y="4572000"/>
            <a:ext cx="3310128" cy="320040"/>
          </a:xfrm>
          <a:prstGeom prst="rect">
            <a:avLst/>
          </a:prstGeom>
          <a:noFill/>
          <a:ln/>
        </p:spPr>
        <p:txBody>
          <a:bodyPr wrap="square" lIns="0" tIns="0" rIns="0" bIns="0" rtlCol="0" anchor="t"/>
          <a:lstStyle/>
          <a:p>
            <a:pPr indent="0" marL="0">
              <a:buNone/>
            </a:pPr>
            <a:r>
              <a:rPr lang="en-US" sz="1800" b="1" dirty="0">
                <a:solidFill>
                  <a:schemeClr val="bg1"/>
                </a:solidFill>
              </a:rPr>
              <a:t>Recommended route</a:t>
            </a:r>
            <a:endParaRPr lang="en-US" sz="1800" dirty="0"/>
          </a:p>
        </p:txBody>
      </p:sp>
      <p:sp>
        <p:nvSpPr>
          <p:cNvPr id="42" name="Recommendation Text"/>
          <p:cNvSpPr txBox="1"/>
          <p:nvPr/>
        </p:nvSpPr>
        <p:spPr>
          <a:xfrm>
            <a:off x="8101584" y="4983480"/>
            <a:ext cx="3310128" cy="731520"/>
          </a:xfrm>
          <a:prstGeom prst="rect">
            <a:avLst/>
          </a:prstGeom>
          <a:noFill/>
          <a:ln/>
        </p:spPr>
        <p:txBody>
          <a:bodyPr wrap="square" lIns="0" tIns="0" rIns="0" bIns="0" rtlCol="0" anchor="t"/>
          <a:lstStyle/>
          <a:p>
            <a:pPr indent="0" marL="0">
              <a:buNone/>
            </a:pPr>
            <a:r>
              <a:rPr lang="en-US" sz="1400" dirty="0">
                <a:solidFill>
                  <a:schemeClr val="bg1"/>
                </a:solidFill>
              </a:rPr>
              <a:t>Suggested route or alternatives shown to the user.</a:t>
            </a:r>
            <a:endParaRPr lang="en-US" sz="1400" dirty="0"/>
          </a:p>
        </p:txBody>
      </p:sp>
      <p:sp>
        <p:nvSpPr>
          <p:cNvPr id="25" name="Slide Number Placeholder 0"/>
          <p:cNvSpPr>
            <a:spLocks noGrp="1"/>
          </p:cNvSpPr>
          <p:nvPr>
            <p:ph type="sldNum" sz="quarter" idx="4294967295"/>
          </p:nvPr>
        </p:nvSpPr>
        <p:spPr>
          <a:xfrm>
            <a:off x="10908792"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Conclusion &amp; Future Enhancements</a:t>
            </a:r>
            <a:endParaRPr lang="en-US" sz="3600" dirty="0"/>
          </a:p>
        </p:txBody>
      </p:sp>
      <p:sp>
        <p:nvSpPr>
          <p:cNvPr id="3" name="Conclusion Panel"/>
          <p:cNvSpPr/>
          <p:nvPr/>
        </p:nvSpPr>
        <p:spPr>
          <a:xfrm>
            <a:off x="548640" y="1463040"/>
            <a:ext cx="4206240" cy="4572000"/>
          </a:xfrm>
          <a:prstGeom prst="roundRect">
            <a:avLst>
              <a:gd name="adj" fmla="val 2174"/>
            </a:avLst>
          </a:prstGeom>
          <a:solidFill>
            <a:schemeClr val="tx2"/>
          </a:solidFill>
          <a:ln/>
        </p:spPr>
      </p:sp>
      <p:sp>
        <p:nvSpPr>
          <p:cNvPr id="4" name="Conclusion Label"/>
          <p:cNvSpPr txBox="1"/>
          <p:nvPr/>
        </p:nvSpPr>
        <p:spPr>
          <a:xfrm>
            <a:off x="868680" y="1783080"/>
            <a:ext cx="3566160" cy="274320"/>
          </a:xfrm>
          <a:prstGeom prst="rect">
            <a:avLst/>
          </a:prstGeom>
          <a:noFill/>
          <a:ln/>
        </p:spPr>
        <p:txBody>
          <a:bodyPr wrap="square" lIns="0" tIns="0" rIns="0" bIns="0" rtlCol="0" anchor="t"/>
          <a:lstStyle/>
          <a:p>
            <a:pPr indent="0" marL="0">
              <a:buNone/>
            </a:pPr>
            <a:r>
              <a:rPr lang="en-US" sz="1400" b="1" spc="200" kern="0" dirty="0">
                <a:solidFill>
                  <a:schemeClr val="accent3"/>
                </a:solidFill>
              </a:rPr>
              <a:t>CONCLUSION</a:t>
            </a:r>
            <a:endParaRPr lang="en-US" sz="1400" dirty="0"/>
          </a:p>
        </p:txBody>
      </p:sp>
      <p:sp>
        <p:nvSpPr>
          <p:cNvPr id="5" name="Conclusion Text"/>
          <p:cNvSpPr txBox="1"/>
          <p:nvPr/>
        </p:nvSpPr>
        <p:spPr>
          <a:xfrm>
            <a:off x="868680" y="2286000"/>
            <a:ext cx="3611880" cy="34747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SRMS brings road and traffic information, reporting and emergency contacts into one web interface.</a:t>
            </a:r>
            <a:endParaRPr lang="en-US" sz="1800" dirty="0"/>
          </a:p>
          <a:p>
            <a:pPr marL="342900" indent="-342900">
              <a:spcAft>
                <a:spcPts val="1400"/>
              </a:spcAft>
              <a:buSzPct val="100000"/>
              <a:buChar char="•"/>
            </a:pPr>
            <a:r>
              <a:rPr lang="en-US" sz="1800" dirty="0">
                <a:solidFill>
                  <a:schemeClr val="bg1"/>
                </a:solidFill>
              </a:rPr>
              <a:t>The current work builds the frontend foundation with HTML5, CSS3 and JavaScript.</a:t>
            </a:r>
            <a:endParaRPr lang="en-US" sz="1800" dirty="0"/>
          </a:p>
          <a:p>
            <a:pPr marL="342900" indent="-342900">
              <a:spcAft>
                <a:spcPts val="1400"/>
              </a:spcAft>
              <a:buSzPct val="100000"/>
              <a:buChar char="•"/>
            </a:pPr>
            <a:r>
              <a:rPr lang="en-US" sz="1800" dirty="0">
                <a:solidFill>
                  <a:schemeClr val="bg1"/>
                </a:solidFill>
              </a:rPr>
              <a:t>Planned enhancements can extend it into a data-driven road management system.</a:t>
            </a:r>
            <a:endParaRPr lang="en-US" sz="1800" dirty="0"/>
          </a:p>
        </p:txBody>
      </p:sp>
      <p:sp>
        <p:nvSpPr>
          <p:cNvPr id="6" name="Future Label"/>
          <p:cNvSpPr txBox="1"/>
          <p:nvPr/>
        </p:nvSpPr>
        <p:spPr>
          <a:xfrm>
            <a:off x="5056632" y="1463040"/>
            <a:ext cx="6583680" cy="274320"/>
          </a:xfrm>
          <a:prstGeom prst="rect">
            <a:avLst/>
          </a:prstGeom>
          <a:noFill/>
          <a:ln/>
        </p:spPr>
        <p:txBody>
          <a:bodyPr wrap="square" lIns="0" tIns="0" rIns="0" bIns="0" rtlCol="0" anchor="t"/>
          <a:lstStyle/>
          <a:p>
            <a:pPr indent="0" marL="0">
              <a:buNone/>
            </a:pPr>
            <a:r>
              <a:rPr lang="en-US" sz="1400" b="1" spc="200" kern="0" dirty="0">
                <a:solidFill>
                  <a:schemeClr val="accent4"/>
                </a:solidFill>
              </a:rPr>
              <a:t>FUTURE ENHANCEMENTS (PROPOSED)</a:t>
            </a:r>
            <a:endParaRPr lang="en-US" sz="1400" dirty="0"/>
          </a:p>
        </p:txBody>
      </p:sp>
      <p:sp>
        <p:nvSpPr>
          <p:cNvPr id="7" name="Future Card 1"/>
          <p:cNvSpPr/>
          <p:nvPr/>
        </p:nvSpPr>
        <p:spPr>
          <a:xfrm>
            <a:off x="5056632" y="1874520"/>
            <a:ext cx="3177540" cy="1234440"/>
          </a:xfrm>
          <a:prstGeom prst="roundRect">
            <a:avLst>
              <a:gd name="adj" fmla="val 7407"/>
            </a:avLst>
          </a:prstGeom>
          <a:solidFill>
            <a:schemeClr val="bg1"/>
          </a:solidFill>
          <a:ln w="19050">
            <a:solidFill>
              <a:schemeClr val="accent2"/>
            </a:solidFill>
            <a:prstDash val="dash"/>
          </a:ln>
        </p:spPr>
      </p:sp>
      <p:sp>
        <p:nvSpPr>
          <p:cNvPr id="8" name="Future Icon Circle 1"/>
          <p:cNvSpPr/>
          <p:nvPr/>
        </p:nvSpPr>
        <p:spPr>
          <a:xfrm>
            <a:off x="5239512" y="2217420"/>
            <a:ext cx="548640" cy="548640"/>
          </a:xfrm>
          <a:prstGeom prst="ellipse">
            <a:avLst/>
          </a:prstGeom>
          <a:solidFill>
            <a:schemeClr val="accent1"/>
          </a:solidFill>
          <a:ln/>
        </p:spPr>
      </p:sp>
      <p:pic>
        <p:nvPicPr>
          <p:cNvPr id="9" name="Live traffic data icon" descr="Live traffic data icon">    </p:cNvPr>
          <p:cNvPicPr>
            <a:picLocks noChangeAspect="1"/>
          </p:cNvPicPr>
          <p:nvPr/>
        </p:nvPicPr>
        <p:blipFill>
          <a:blip r:embed="rId1"/>
          <a:stretch>
            <a:fillRect/>
          </a:stretch>
        </p:blipFill>
        <p:spPr>
          <a:xfrm>
            <a:off x="5376672" y="2354580"/>
            <a:ext cx="274320" cy="274320"/>
          </a:xfrm>
          <a:prstGeom prst="rect">
            <a:avLst/>
          </a:prstGeom>
        </p:spPr>
      </p:pic>
      <p:sp>
        <p:nvSpPr>
          <p:cNvPr id="10" name="Future Title 1"/>
          <p:cNvSpPr txBox="1"/>
          <p:nvPr/>
        </p:nvSpPr>
        <p:spPr>
          <a:xfrm>
            <a:off x="5971032" y="2130552"/>
            <a:ext cx="2125980" cy="274320"/>
          </a:xfrm>
          <a:prstGeom prst="rect">
            <a:avLst/>
          </a:prstGeom>
          <a:noFill/>
          <a:ln/>
        </p:spPr>
        <p:txBody>
          <a:bodyPr wrap="square" lIns="0" tIns="0" rIns="0" bIns="0" rtlCol="0" anchor="t"/>
          <a:lstStyle/>
          <a:p>
            <a:pPr indent="0" marL="0">
              <a:buNone/>
            </a:pPr>
            <a:r>
              <a:rPr lang="en-US" sz="1600" b="1" dirty="0">
                <a:solidFill>
                  <a:schemeClr val="tx2"/>
                </a:solidFill>
              </a:rPr>
              <a:t>Live traffic data</a:t>
            </a:r>
            <a:endParaRPr lang="en-US" sz="1600" dirty="0"/>
          </a:p>
        </p:txBody>
      </p:sp>
      <p:sp>
        <p:nvSpPr>
          <p:cNvPr id="11" name="Future Text 1"/>
          <p:cNvSpPr txBox="1"/>
          <p:nvPr/>
        </p:nvSpPr>
        <p:spPr>
          <a:xfrm>
            <a:off x="5971032" y="2468880"/>
            <a:ext cx="2125980" cy="548640"/>
          </a:xfrm>
          <a:prstGeom prst="rect">
            <a:avLst/>
          </a:prstGeom>
          <a:noFill/>
          <a:ln/>
        </p:spPr>
        <p:txBody>
          <a:bodyPr wrap="square" lIns="0" tIns="0" rIns="0" bIns="0" rtlCol="0" anchor="t"/>
          <a:lstStyle/>
          <a:p>
            <a:pPr indent="0" marL="0">
              <a:buNone/>
            </a:pPr>
            <a:r>
              <a:rPr lang="en-US" sz="1400" dirty="0">
                <a:solidFill>
                  <a:schemeClr val="accent4"/>
                </a:solidFill>
              </a:rPr>
              <a:t>Integrate real-time traffic feeds.</a:t>
            </a:r>
            <a:endParaRPr lang="en-US" sz="1400" dirty="0"/>
          </a:p>
        </p:txBody>
      </p:sp>
      <p:sp>
        <p:nvSpPr>
          <p:cNvPr id="12" name="Future Card 2"/>
          <p:cNvSpPr/>
          <p:nvPr/>
        </p:nvSpPr>
        <p:spPr>
          <a:xfrm>
            <a:off x="8462772" y="1874520"/>
            <a:ext cx="3177540" cy="1234440"/>
          </a:xfrm>
          <a:prstGeom prst="roundRect">
            <a:avLst>
              <a:gd name="adj" fmla="val 7407"/>
            </a:avLst>
          </a:prstGeom>
          <a:solidFill>
            <a:schemeClr val="bg1"/>
          </a:solidFill>
          <a:ln w="19050">
            <a:solidFill>
              <a:schemeClr val="accent2"/>
            </a:solidFill>
            <a:prstDash val="dash"/>
          </a:ln>
        </p:spPr>
      </p:sp>
      <p:sp>
        <p:nvSpPr>
          <p:cNvPr id="13" name="Future Icon Circle 2"/>
          <p:cNvSpPr/>
          <p:nvPr/>
        </p:nvSpPr>
        <p:spPr>
          <a:xfrm>
            <a:off x="8645652" y="2217420"/>
            <a:ext cx="548640" cy="548640"/>
          </a:xfrm>
          <a:prstGeom prst="ellipse">
            <a:avLst/>
          </a:prstGeom>
          <a:solidFill>
            <a:schemeClr val="accent1"/>
          </a:solidFill>
          <a:ln/>
        </p:spPr>
      </p:sp>
      <p:pic>
        <p:nvPicPr>
          <p:cNvPr id="14" name="Maps-based routing icon" descr="Maps-based routing icon">    </p:cNvPr>
          <p:cNvPicPr>
            <a:picLocks noChangeAspect="1"/>
          </p:cNvPicPr>
          <p:nvPr/>
        </p:nvPicPr>
        <p:blipFill>
          <a:blip r:embed="rId2"/>
          <a:stretch>
            <a:fillRect/>
          </a:stretch>
        </p:blipFill>
        <p:spPr>
          <a:xfrm>
            <a:off x="8782812" y="2354580"/>
            <a:ext cx="274320" cy="274320"/>
          </a:xfrm>
          <a:prstGeom prst="rect">
            <a:avLst/>
          </a:prstGeom>
        </p:spPr>
      </p:pic>
      <p:sp>
        <p:nvSpPr>
          <p:cNvPr id="15" name="Future Title 2"/>
          <p:cNvSpPr txBox="1"/>
          <p:nvPr/>
        </p:nvSpPr>
        <p:spPr>
          <a:xfrm>
            <a:off x="9377172" y="2130552"/>
            <a:ext cx="2125980" cy="274320"/>
          </a:xfrm>
          <a:prstGeom prst="rect">
            <a:avLst/>
          </a:prstGeom>
          <a:noFill/>
          <a:ln/>
        </p:spPr>
        <p:txBody>
          <a:bodyPr wrap="square" lIns="0" tIns="0" rIns="0" bIns="0" rtlCol="0" anchor="t"/>
          <a:lstStyle/>
          <a:p>
            <a:pPr indent="0" marL="0">
              <a:buNone/>
            </a:pPr>
            <a:r>
              <a:rPr lang="en-US" sz="1600" b="1" dirty="0">
                <a:solidFill>
                  <a:schemeClr val="tx2"/>
                </a:solidFill>
              </a:rPr>
              <a:t>Maps-based routing</a:t>
            </a:r>
            <a:endParaRPr lang="en-US" sz="1600" dirty="0"/>
          </a:p>
        </p:txBody>
      </p:sp>
      <p:sp>
        <p:nvSpPr>
          <p:cNvPr id="16" name="Future Text 2"/>
          <p:cNvSpPr txBox="1"/>
          <p:nvPr/>
        </p:nvSpPr>
        <p:spPr>
          <a:xfrm>
            <a:off x="9377172" y="2468880"/>
            <a:ext cx="2125980" cy="548640"/>
          </a:xfrm>
          <a:prstGeom prst="rect">
            <a:avLst/>
          </a:prstGeom>
          <a:noFill/>
          <a:ln/>
        </p:spPr>
        <p:txBody>
          <a:bodyPr wrap="square" lIns="0" tIns="0" rIns="0" bIns="0" rtlCol="0" anchor="t"/>
          <a:lstStyle/>
          <a:p>
            <a:pPr indent="0" marL="0">
              <a:buNone/>
            </a:pPr>
            <a:r>
              <a:rPr lang="en-US" sz="1400" dirty="0">
                <a:solidFill>
                  <a:schemeClr val="accent4"/>
                </a:solidFill>
              </a:rPr>
              <a:t>Route planning with Google Maps.</a:t>
            </a:r>
            <a:endParaRPr lang="en-US" sz="1400" dirty="0"/>
          </a:p>
        </p:txBody>
      </p:sp>
      <p:sp>
        <p:nvSpPr>
          <p:cNvPr id="17" name="Future Card 3"/>
          <p:cNvSpPr/>
          <p:nvPr/>
        </p:nvSpPr>
        <p:spPr>
          <a:xfrm>
            <a:off x="5056632" y="3291840"/>
            <a:ext cx="3177540" cy="1234440"/>
          </a:xfrm>
          <a:prstGeom prst="roundRect">
            <a:avLst>
              <a:gd name="adj" fmla="val 7407"/>
            </a:avLst>
          </a:prstGeom>
          <a:solidFill>
            <a:schemeClr val="bg1"/>
          </a:solidFill>
          <a:ln w="19050">
            <a:solidFill>
              <a:schemeClr val="accent2"/>
            </a:solidFill>
            <a:prstDash val="dash"/>
          </a:ln>
        </p:spPr>
      </p:sp>
      <p:sp>
        <p:nvSpPr>
          <p:cNvPr id="18" name="Future Icon Circle 3"/>
          <p:cNvSpPr/>
          <p:nvPr/>
        </p:nvSpPr>
        <p:spPr>
          <a:xfrm>
            <a:off x="5239512" y="3634740"/>
            <a:ext cx="548640" cy="548640"/>
          </a:xfrm>
          <a:prstGeom prst="ellipse">
            <a:avLst/>
          </a:prstGeom>
          <a:solidFill>
            <a:schemeClr val="accent1"/>
          </a:solidFill>
          <a:ln/>
        </p:spPr>
      </p:sp>
      <p:pic>
        <p:nvPicPr>
          <p:cNvPr id="19" name="Backend &amp; database icon" descr="Backend &amp; database icon">    </p:cNvPr>
          <p:cNvPicPr>
            <a:picLocks noChangeAspect="1"/>
          </p:cNvPicPr>
          <p:nvPr/>
        </p:nvPicPr>
        <p:blipFill>
          <a:blip r:embed="rId3"/>
          <a:stretch>
            <a:fillRect/>
          </a:stretch>
        </p:blipFill>
        <p:spPr>
          <a:xfrm>
            <a:off x="5376672" y="3771900"/>
            <a:ext cx="274320" cy="274320"/>
          </a:xfrm>
          <a:prstGeom prst="rect">
            <a:avLst/>
          </a:prstGeom>
        </p:spPr>
      </p:pic>
      <p:sp>
        <p:nvSpPr>
          <p:cNvPr id="20" name="Future Title 3"/>
          <p:cNvSpPr txBox="1"/>
          <p:nvPr/>
        </p:nvSpPr>
        <p:spPr>
          <a:xfrm>
            <a:off x="5971032" y="3547872"/>
            <a:ext cx="2125980" cy="274320"/>
          </a:xfrm>
          <a:prstGeom prst="rect">
            <a:avLst/>
          </a:prstGeom>
          <a:noFill/>
          <a:ln/>
        </p:spPr>
        <p:txBody>
          <a:bodyPr wrap="square" lIns="0" tIns="0" rIns="0" bIns="0" rtlCol="0" anchor="t"/>
          <a:lstStyle/>
          <a:p>
            <a:pPr indent="0" marL="0">
              <a:buNone/>
            </a:pPr>
            <a:r>
              <a:rPr lang="en-US" sz="1600" b="1" dirty="0">
                <a:solidFill>
                  <a:schemeClr val="tx2"/>
                </a:solidFill>
              </a:rPr>
              <a:t>Backend &amp; database</a:t>
            </a:r>
            <a:endParaRPr lang="en-US" sz="1600" dirty="0"/>
          </a:p>
        </p:txBody>
      </p:sp>
      <p:sp>
        <p:nvSpPr>
          <p:cNvPr id="21" name="Future Text 3"/>
          <p:cNvSpPr txBox="1"/>
          <p:nvPr/>
        </p:nvSpPr>
        <p:spPr>
          <a:xfrm>
            <a:off x="5971032" y="3886200"/>
            <a:ext cx="2125980" cy="548640"/>
          </a:xfrm>
          <a:prstGeom prst="rect">
            <a:avLst/>
          </a:prstGeom>
          <a:noFill/>
          <a:ln/>
        </p:spPr>
        <p:txBody>
          <a:bodyPr wrap="square" lIns="0" tIns="0" rIns="0" bIns="0" rtlCol="0" anchor="t"/>
          <a:lstStyle/>
          <a:p>
            <a:pPr indent="0" marL="0">
              <a:buNone/>
            </a:pPr>
            <a:r>
              <a:rPr lang="en-US" sz="1400" dirty="0">
                <a:solidFill>
                  <a:schemeClr val="accent4"/>
                </a:solidFill>
              </a:rPr>
              <a:t>Spring Boot, REST API and MySQL.</a:t>
            </a:r>
            <a:endParaRPr lang="en-US" sz="1400" dirty="0"/>
          </a:p>
        </p:txBody>
      </p:sp>
      <p:sp>
        <p:nvSpPr>
          <p:cNvPr id="22" name="Future Card 4"/>
          <p:cNvSpPr/>
          <p:nvPr/>
        </p:nvSpPr>
        <p:spPr>
          <a:xfrm>
            <a:off x="8462772" y="3291840"/>
            <a:ext cx="3177540" cy="1234440"/>
          </a:xfrm>
          <a:prstGeom prst="roundRect">
            <a:avLst>
              <a:gd name="adj" fmla="val 7407"/>
            </a:avLst>
          </a:prstGeom>
          <a:solidFill>
            <a:schemeClr val="bg1"/>
          </a:solidFill>
          <a:ln w="19050">
            <a:solidFill>
              <a:schemeClr val="accent2"/>
            </a:solidFill>
            <a:prstDash val="dash"/>
          </a:ln>
        </p:spPr>
      </p:sp>
      <p:sp>
        <p:nvSpPr>
          <p:cNvPr id="23" name="Future Icon Circle 4"/>
          <p:cNvSpPr/>
          <p:nvPr/>
        </p:nvSpPr>
        <p:spPr>
          <a:xfrm>
            <a:off x="8645652" y="3634740"/>
            <a:ext cx="548640" cy="548640"/>
          </a:xfrm>
          <a:prstGeom prst="ellipse">
            <a:avLst/>
          </a:prstGeom>
          <a:solidFill>
            <a:schemeClr val="accent1"/>
          </a:solidFill>
          <a:ln/>
        </p:spPr>
      </p:sp>
      <p:pic>
        <p:nvPicPr>
          <p:cNvPr id="24" name="Report verification icon" descr="Report verification icon">    </p:cNvPr>
          <p:cNvPicPr>
            <a:picLocks noChangeAspect="1"/>
          </p:cNvPicPr>
          <p:nvPr/>
        </p:nvPicPr>
        <p:blipFill>
          <a:blip r:embed="rId4"/>
          <a:stretch>
            <a:fillRect/>
          </a:stretch>
        </p:blipFill>
        <p:spPr>
          <a:xfrm>
            <a:off x="8782812" y="3771900"/>
            <a:ext cx="274320" cy="274320"/>
          </a:xfrm>
          <a:prstGeom prst="rect">
            <a:avLst/>
          </a:prstGeom>
        </p:spPr>
      </p:pic>
      <p:sp>
        <p:nvSpPr>
          <p:cNvPr id="25" name="Future Title 4"/>
          <p:cNvSpPr txBox="1"/>
          <p:nvPr/>
        </p:nvSpPr>
        <p:spPr>
          <a:xfrm>
            <a:off x="9377172" y="3547872"/>
            <a:ext cx="2125980" cy="274320"/>
          </a:xfrm>
          <a:prstGeom prst="rect">
            <a:avLst/>
          </a:prstGeom>
          <a:noFill/>
          <a:ln/>
        </p:spPr>
        <p:txBody>
          <a:bodyPr wrap="square" lIns="0" tIns="0" rIns="0" bIns="0" rtlCol="0" anchor="t"/>
          <a:lstStyle/>
          <a:p>
            <a:pPr indent="0" marL="0">
              <a:buNone/>
            </a:pPr>
            <a:r>
              <a:rPr lang="en-US" sz="1600" b="1" dirty="0">
                <a:solidFill>
                  <a:schemeClr val="tx2"/>
                </a:solidFill>
              </a:rPr>
              <a:t>Report verification</a:t>
            </a:r>
            <a:endParaRPr lang="en-US" sz="1600" dirty="0"/>
          </a:p>
        </p:txBody>
      </p:sp>
      <p:sp>
        <p:nvSpPr>
          <p:cNvPr id="26" name="Future Text 4"/>
          <p:cNvSpPr txBox="1"/>
          <p:nvPr/>
        </p:nvSpPr>
        <p:spPr>
          <a:xfrm>
            <a:off x="9377172" y="3886200"/>
            <a:ext cx="2125980" cy="548640"/>
          </a:xfrm>
          <a:prstGeom prst="rect">
            <a:avLst/>
          </a:prstGeom>
          <a:noFill/>
          <a:ln/>
        </p:spPr>
        <p:txBody>
          <a:bodyPr wrap="square" lIns="0" tIns="0" rIns="0" bIns="0" rtlCol="0" anchor="t"/>
          <a:lstStyle/>
          <a:p>
            <a:pPr indent="0" marL="0">
              <a:buNone/>
            </a:pPr>
            <a:r>
              <a:rPr lang="en-US" sz="1400" dirty="0">
                <a:solidFill>
                  <a:schemeClr val="accent4"/>
                </a:solidFill>
              </a:rPr>
              <a:t>Validate reports before action.</a:t>
            </a:r>
            <a:endParaRPr lang="en-US" sz="1400" dirty="0"/>
          </a:p>
        </p:txBody>
      </p:sp>
      <p:sp>
        <p:nvSpPr>
          <p:cNvPr id="27" name="Future Card 5"/>
          <p:cNvSpPr/>
          <p:nvPr/>
        </p:nvSpPr>
        <p:spPr>
          <a:xfrm>
            <a:off x="5056632" y="4709160"/>
            <a:ext cx="3177540" cy="1234440"/>
          </a:xfrm>
          <a:prstGeom prst="roundRect">
            <a:avLst>
              <a:gd name="adj" fmla="val 7407"/>
            </a:avLst>
          </a:prstGeom>
          <a:solidFill>
            <a:schemeClr val="bg1"/>
          </a:solidFill>
          <a:ln w="19050">
            <a:solidFill>
              <a:schemeClr val="accent2"/>
            </a:solidFill>
            <a:prstDash val="dash"/>
          </a:ln>
        </p:spPr>
      </p:sp>
      <p:sp>
        <p:nvSpPr>
          <p:cNvPr id="28" name="Future Icon Circle 5"/>
          <p:cNvSpPr/>
          <p:nvPr/>
        </p:nvSpPr>
        <p:spPr>
          <a:xfrm>
            <a:off x="5239512" y="5052060"/>
            <a:ext cx="548640" cy="548640"/>
          </a:xfrm>
          <a:prstGeom prst="ellipse">
            <a:avLst/>
          </a:prstGeom>
          <a:solidFill>
            <a:schemeClr val="accent1"/>
          </a:solidFill>
          <a:ln/>
        </p:spPr>
      </p:sp>
      <p:pic>
        <p:nvPicPr>
          <p:cNvPr id="29" name="Route optimization icon" descr="Route optimization icon">    </p:cNvPr>
          <p:cNvPicPr>
            <a:picLocks noChangeAspect="1"/>
          </p:cNvPicPr>
          <p:nvPr/>
        </p:nvPicPr>
        <p:blipFill>
          <a:blip r:embed="rId5"/>
          <a:stretch>
            <a:fillRect/>
          </a:stretch>
        </p:blipFill>
        <p:spPr>
          <a:xfrm>
            <a:off x="5376672" y="5189220"/>
            <a:ext cx="274320" cy="274320"/>
          </a:xfrm>
          <a:prstGeom prst="rect">
            <a:avLst/>
          </a:prstGeom>
        </p:spPr>
      </p:pic>
      <p:sp>
        <p:nvSpPr>
          <p:cNvPr id="30" name="Future Title 5"/>
          <p:cNvSpPr txBox="1"/>
          <p:nvPr/>
        </p:nvSpPr>
        <p:spPr>
          <a:xfrm>
            <a:off x="5971032" y="4965192"/>
            <a:ext cx="2125980" cy="274320"/>
          </a:xfrm>
          <a:prstGeom prst="rect">
            <a:avLst/>
          </a:prstGeom>
          <a:noFill/>
          <a:ln/>
        </p:spPr>
        <p:txBody>
          <a:bodyPr wrap="square" lIns="0" tIns="0" rIns="0" bIns="0" rtlCol="0" anchor="t"/>
          <a:lstStyle/>
          <a:p>
            <a:pPr indent="0" marL="0">
              <a:buNone/>
            </a:pPr>
            <a:r>
              <a:rPr lang="en-US" sz="1600" b="1" dirty="0">
                <a:solidFill>
                  <a:schemeClr val="tx2"/>
                </a:solidFill>
              </a:rPr>
              <a:t>Route optimization</a:t>
            </a:r>
            <a:endParaRPr lang="en-US" sz="1600" dirty="0"/>
          </a:p>
        </p:txBody>
      </p:sp>
      <p:sp>
        <p:nvSpPr>
          <p:cNvPr id="31" name="Future Text 5"/>
          <p:cNvSpPr txBox="1"/>
          <p:nvPr/>
        </p:nvSpPr>
        <p:spPr>
          <a:xfrm>
            <a:off x="5971032" y="5303520"/>
            <a:ext cx="2125980" cy="548640"/>
          </a:xfrm>
          <a:prstGeom prst="rect">
            <a:avLst/>
          </a:prstGeom>
          <a:noFill/>
          <a:ln/>
        </p:spPr>
        <p:txBody>
          <a:bodyPr wrap="square" lIns="0" tIns="0" rIns="0" bIns="0" rtlCol="0" anchor="t"/>
          <a:lstStyle/>
          <a:p>
            <a:pPr indent="0" marL="0">
              <a:buNone/>
            </a:pPr>
            <a:r>
              <a:rPr lang="en-US" sz="1400" dirty="0">
                <a:solidFill>
                  <a:schemeClr val="accent4"/>
                </a:solidFill>
              </a:rPr>
              <a:t>Suggest better routes from road data.</a:t>
            </a:r>
            <a:endParaRPr lang="en-US" sz="1400" dirty="0"/>
          </a:p>
        </p:txBody>
      </p:sp>
      <p:sp>
        <p:nvSpPr>
          <p:cNvPr id="32" name="Future Card 6"/>
          <p:cNvSpPr/>
          <p:nvPr/>
        </p:nvSpPr>
        <p:spPr>
          <a:xfrm>
            <a:off x="8462772" y="4709160"/>
            <a:ext cx="3177540" cy="1234440"/>
          </a:xfrm>
          <a:prstGeom prst="roundRect">
            <a:avLst>
              <a:gd name="adj" fmla="val 7407"/>
            </a:avLst>
          </a:prstGeom>
          <a:solidFill>
            <a:schemeClr val="bg1"/>
          </a:solidFill>
          <a:ln w="19050">
            <a:solidFill>
              <a:schemeClr val="accent2"/>
            </a:solidFill>
            <a:prstDash val="dash"/>
          </a:ln>
        </p:spPr>
      </p:sp>
      <p:sp>
        <p:nvSpPr>
          <p:cNvPr id="33" name="Future Icon Circle 6"/>
          <p:cNvSpPr/>
          <p:nvPr/>
        </p:nvSpPr>
        <p:spPr>
          <a:xfrm>
            <a:off x="8645652" y="5052060"/>
            <a:ext cx="548640" cy="548640"/>
          </a:xfrm>
          <a:prstGeom prst="ellipse">
            <a:avLst/>
          </a:prstGeom>
          <a:solidFill>
            <a:schemeClr val="accent1"/>
          </a:solidFill>
          <a:ln/>
        </p:spPr>
      </p:sp>
      <p:pic>
        <p:nvPicPr>
          <p:cNvPr id="34" name="Road-damage detection icon" descr="Road-damage detection icon">    </p:cNvPr>
          <p:cNvPicPr>
            <a:picLocks noChangeAspect="1"/>
          </p:cNvPicPr>
          <p:nvPr/>
        </p:nvPicPr>
        <p:blipFill>
          <a:blip r:embed="rId6"/>
          <a:stretch>
            <a:fillRect/>
          </a:stretch>
        </p:blipFill>
        <p:spPr>
          <a:xfrm>
            <a:off x="8782812" y="5189220"/>
            <a:ext cx="274320" cy="274320"/>
          </a:xfrm>
          <a:prstGeom prst="rect">
            <a:avLst/>
          </a:prstGeom>
        </p:spPr>
      </p:pic>
      <p:sp>
        <p:nvSpPr>
          <p:cNvPr id="35" name="Future Title 6"/>
          <p:cNvSpPr txBox="1"/>
          <p:nvPr/>
        </p:nvSpPr>
        <p:spPr>
          <a:xfrm>
            <a:off x="9377172" y="4965192"/>
            <a:ext cx="2125980" cy="274320"/>
          </a:xfrm>
          <a:prstGeom prst="rect">
            <a:avLst/>
          </a:prstGeom>
          <a:noFill/>
          <a:ln/>
        </p:spPr>
        <p:txBody>
          <a:bodyPr wrap="square" lIns="0" tIns="0" rIns="0" bIns="0" rtlCol="0" anchor="t"/>
          <a:lstStyle/>
          <a:p>
            <a:pPr indent="0" marL="0">
              <a:buNone/>
            </a:pPr>
            <a:r>
              <a:rPr lang="en-US" sz="1600" b="1" dirty="0">
                <a:solidFill>
                  <a:schemeClr val="tx2"/>
                </a:solidFill>
              </a:rPr>
              <a:t>Road-damage detection</a:t>
            </a:r>
            <a:endParaRPr lang="en-US" sz="1600" dirty="0"/>
          </a:p>
        </p:txBody>
      </p:sp>
      <p:sp>
        <p:nvSpPr>
          <p:cNvPr id="36" name="Future Text 6"/>
          <p:cNvSpPr txBox="1"/>
          <p:nvPr/>
        </p:nvSpPr>
        <p:spPr>
          <a:xfrm>
            <a:off x="9377172" y="5303520"/>
            <a:ext cx="2125980" cy="548640"/>
          </a:xfrm>
          <a:prstGeom prst="rect">
            <a:avLst/>
          </a:prstGeom>
          <a:noFill/>
          <a:ln/>
        </p:spPr>
        <p:txBody>
          <a:bodyPr wrap="square" lIns="0" tIns="0" rIns="0" bIns="0" rtlCol="0" anchor="t"/>
          <a:lstStyle/>
          <a:p>
            <a:pPr indent="0" marL="0">
              <a:buNone/>
            </a:pPr>
            <a:r>
              <a:rPr lang="en-US" sz="1400" dirty="0">
                <a:solidFill>
                  <a:schemeClr val="accent4"/>
                </a:solidFill>
              </a:rPr>
              <a:t>Use images or sensors to detect damage.</a:t>
            </a:r>
            <a:endParaRPr lang="en-US" sz="1400" dirty="0"/>
          </a:p>
        </p:txBody>
      </p:sp>
      <p:sp>
        <p:nvSpPr>
          <p:cNvPr id="25" name="Slide Number Placeholder 0"/>
          <p:cNvSpPr>
            <a:spLocks noGrp="1"/>
          </p:cNvSpPr>
          <p:nvPr>
            <p:ph type="sldNum" sz="quarter" idx="4294967295"/>
          </p:nvPr>
        </p:nvSpPr>
        <p:spPr>
          <a:xfrm>
            <a:off x="10908792"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RMS Academic">
  <a:themeElements>
    <a:clrScheme name="SRMS Academic">
      <a:dk1>
        <a:srgbClr val="1B2433"/>
      </a:dk1>
      <a:lt1>
        <a:srgbClr val="FFFFFF"/>
      </a:lt1>
      <a:dk2>
        <a:srgbClr val="0B2545"/>
      </a:dk2>
      <a:lt2>
        <a:srgbClr val="EEF1F5"/>
      </a:lt2>
      <a:accent1>
        <a:srgbClr val="168A5B"/>
      </a:accent1>
      <a:accent2>
        <a:srgbClr val="13315C"/>
      </a:accent2>
      <a:accent3>
        <a:srgbClr val="DDF1E8"/>
      </a:accent3>
      <a:accent4>
        <a:srgbClr val="5F6B7A"/>
      </a:accent4>
      <a:accent5>
        <a:srgbClr val="DCE5F1"/>
      </a:accent5>
      <a:accent6>
        <a:srgbClr val="8DA2BD"/>
      </a:accent6>
      <a:hlink>
        <a:srgbClr val="13315C"/>
      </a:hlink>
      <a:folHlink>
        <a:srgbClr val="5F6B7A"/>
      </a:folHlink>
    </a:clrScheme>
    <a:fontScheme name="SRMS Academi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Road Management System (SRMS)</dc:title>
  <dc:subject>PptxGenJS Presentation</dc:subject>
  <dc:creator>[Student Name]</dc:creator>
  <cp:lastModifiedBy>[Student Name]</cp:lastModifiedBy>
  <cp:revision>1</cp:revision>
  <dcterms:created xsi:type="dcterms:W3CDTF">2026-10-26T16:52:38Z</dcterms:created>
  <dcterms:modified xsi:type="dcterms:W3CDTF">2026-10-26T16:52:38Z</dcterms:modified>
</cp:coreProperties>
</file>